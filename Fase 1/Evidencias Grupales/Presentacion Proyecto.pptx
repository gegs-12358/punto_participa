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n+4cCoYzjbmchb4L1v2Vn8XdD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6" name="Google Shape;64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5.png"/><Relationship Id="rId8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17.png"/><Relationship Id="rId6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9.png"/><Relationship Id="rId6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14.png"/><Relationship Id="rId6" Type="http://schemas.openxmlformats.org/officeDocument/2006/relationships/image" Target="../media/image25.png"/><Relationship Id="rId7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3.png"/><Relationship Id="rId5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31.png"/><Relationship Id="rId5" Type="http://schemas.openxmlformats.org/officeDocument/2006/relationships/image" Target="../media/image28.png"/><Relationship Id="rId6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image" Target="../media/image30.png"/><Relationship Id="rId6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4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1.png"/><Relationship Id="rId4" Type="http://schemas.openxmlformats.org/officeDocument/2006/relationships/image" Target="../media/image9.png"/><Relationship Id="rId5" Type="http://schemas.openxmlformats.org/officeDocument/2006/relationships/image" Target="../media/image17.png"/><Relationship Id="rId6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Relationship Id="rId4" Type="http://schemas.openxmlformats.org/officeDocument/2006/relationships/image" Target="../media/image2.png"/><Relationship Id="rId5" Type="http://schemas.openxmlformats.org/officeDocument/2006/relationships/image" Target="../media/image4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1.png"/><Relationship Id="rId4" Type="http://schemas.openxmlformats.org/officeDocument/2006/relationships/image" Target="../media/image56.png"/><Relationship Id="rId5" Type="http://schemas.openxmlformats.org/officeDocument/2006/relationships/image" Target="../media/image55.png"/><Relationship Id="rId6" Type="http://schemas.openxmlformats.org/officeDocument/2006/relationships/image" Target="../media/image4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6.png"/><Relationship Id="rId4" Type="http://schemas.openxmlformats.org/officeDocument/2006/relationships/image" Target="../media/image48.png"/><Relationship Id="rId5" Type="http://schemas.openxmlformats.org/officeDocument/2006/relationships/image" Target="../media/image44.png"/><Relationship Id="rId6" Type="http://schemas.openxmlformats.org/officeDocument/2006/relationships/image" Target="../media/image4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Relationship Id="rId4" Type="http://schemas.openxmlformats.org/officeDocument/2006/relationships/image" Target="../media/image41.png"/><Relationship Id="rId5" Type="http://schemas.openxmlformats.org/officeDocument/2006/relationships/image" Target="../media/image45.png"/><Relationship Id="rId6" Type="http://schemas.openxmlformats.org/officeDocument/2006/relationships/image" Target="../media/image17.png"/><Relationship Id="rId7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0.png"/><Relationship Id="rId4" Type="http://schemas.openxmlformats.org/officeDocument/2006/relationships/image" Target="../media/image33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778240" y="-2011680"/>
            <a:ext cx="5669400" cy="5669400"/>
          </a:xfrm>
          <a:prstGeom prst="ellipse">
            <a:avLst/>
          </a:prstGeom>
          <a:solidFill>
            <a:srgbClr val="1236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-1463040" y="4206240"/>
            <a:ext cx="4023300" cy="4023300"/>
          </a:xfrm>
          <a:prstGeom prst="ellipse">
            <a:avLst/>
          </a:prstGeom>
          <a:solidFill>
            <a:srgbClr val="1236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-182880" y="5989320"/>
            <a:ext cx="12527400" cy="868800"/>
          </a:xfrm>
          <a:prstGeom prst="rect">
            <a:avLst/>
          </a:prstGeom>
          <a:solidFill>
            <a:srgbClr val="081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457200"/>
            <a:ext cx="3657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Duoc</a:t>
            </a: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UC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58368" y="987552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CA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7C8CA3"/>
                </a:solidFill>
                <a:latin typeface="Arial"/>
                <a:ea typeface="Arial"/>
                <a:cs typeface="Arial"/>
                <a:sym typeface="Arial"/>
              </a:rPr>
              <a:t>ESCUELA DE INFORMÁTICA Y TELECOMUNICACIONES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425088" y="1270575"/>
            <a:ext cx="4077900" cy="2377500"/>
          </a:xfrm>
          <a:prstGeom prst="roundRect">
            <a:avLst>
              <a:gd fmla="val 622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oj/assets/logo_cropped.png" id="22" name="Google Shape;2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3701" y="1499176"/>
            <a:ext cx="3620652" cy="1920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/>
          <p:nvPr/>
        </p:nvSpPr>
        <p:spPr>
          <a:xfrm>
            <a:off x="640080" y="2788920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PROPUESTA DE PROYECTO CAPSTONE  ·  PTY4614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94360" y="3154680"/>
            <a:ext cx="10515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Punto Participa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40080" y="429768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3D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9D3DE"/>
                </a:solidFill>
                <a:latin typeface="Arial"/>
                <a:ea typeface="Arial"/>
                <a:cs typeface="Arial"/>
                <a:sym typeface="Arial"/>
              </a:rPr>
              <a:t>Planificación y especificación de requisitos según estándares IEEE 830, ISO 9000 y PMI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40080" y="4846320"/>
            <a:ext cx="3383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Gabriel González</a:t>
            </a:r>
            <a:b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rPr>
              <a:t>Jefe de Proyecto / Backend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206240" y="4846320"/>
            <a:ext cx="3383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Pablo Rebolledo</a:t>
            </a:r>
            <a:b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rPr>
              <a:t>Desarrollador Frontend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7772400" y="4846320"/>
            <a:ext cx="3383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Diverson Nonnombre</a:t>
            </a:r>
            <a:b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rPr>
              <a:t>Base de Datos / QA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C4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rPr>
              <a:t>Asignatura: </a:t>
            </a: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Capstone (PTY4614)   </a:t>
            </a:r>
            <a:r>
              <a:rPr b="0" i="0" lang="en-US" sz="1350" u="none" cap="none" strike="noStrike"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rPr>
              <a:t>|   Profesor: </a:t>
            </a: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Felipe Antonio Krauss Benavente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10725912" y="-1005840"/>
            <a:ext cx="2377440" cy="2377440"/>
          </a:xfrm>
          <a:prstGeom prst="ellipse">
            <a:avLst/>
          </a:prstGeom>
          <a:solidFill>
            <a:srgbClr val="FCE3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11686032" y="5623560"/>
            <a:ext cx="1371600" cy="1371600"/>
          </a:xfrm>
          <a:prstGeom prst="ellipse">
            <a:avLst/>
          </a:prstGeom>
          <a:solidFill>
            <a:srgbClr val="F6F7F9"/>
          </a:solidFill>
          <a:ln cap="flat" cmpd="sng" w="1905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Qué vamos a revisar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Duoc UC  •  Punto Participa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40080" y="1600200"/>
            <a:ext cx="5303520" cy="1371600"/>
          </a:xfrm>
          <a:prstGeom prst="roundRect">
            <a:avLst>
              <a:gd fmla="val 8000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868680" y="1920240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compass_navy.png" id="43" name="Google Shape;4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4245" y="209580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1737360" y="174650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Origen y problemática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737360" y="2185416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Cómo nació el proyecto y qué resuelve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309360" y="1600200"/>
            <a:ext cx="5303520" cy="1371600"/>
          </a:xfrm>
          <a:prstGeom prst="roundRect">
            <a:avLst>
              <a:gd fmla="val 8000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537960" y="1920240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bullseye_navy.png" id="48" name="Google Shape;4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3525" y="209580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/>
          <p:nvPr/>
        </p:nvSpPr>
        <p:spPr>
          <a:xfrm>
            <a:off x="7406640" y="174650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Objetivos y vinculación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7406640" y="2185416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Perfil de egreso, metas y factibilidad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40080" y="3291840"/>
            <a:ext cx="5303520" cy="1371600"/>
          </a:xfrm>
          <a:prstGeom prst="roundRect">
            <a:avLst>
              <a:gd fmla="val 8000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868680" y="3611880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userscog_navy.png" id="53" name="Google Shape;5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4245" y="378744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/>
          <p:nvPr/>
        </p:nvSpPr>
        <p:spPr>
          <a:xfrm>
            <a:off x="1737360" y="343814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Equipo y metodología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737360" y="3877056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Roles, aspiraciones y trabajo en Scrum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309360" y="3291840"/>
            <a:ext cx="5303520" cy="1371600"/>
          </a:xfrm>
          <a:prstGeom prst="roundRect">
            <a:avLst>
              <a:gd fmla="val 8000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6537960" y="3611880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clipcheck_navy.png" id="58" name="Google Shape;58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3525" y="378744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"/>
          <p:cNvSpPr/>
          <p:nvPr/>
        </p:nvSpPr>
        <p:spPr>
          <a:xfrm>
            <a:off x="7406640" y="343814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PMV y épicas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7406640" y="3877056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Alcance, modalidades y funcionalidades clave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40080" y="4983480"/>
            <a:ext cx="5303520" cy="1371600"/>
          </a:xfrm>
          <a:prstGeom prst="roundRect">
            <a:avLst>
              <a:gd fmla="val 8000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868680" y="5303520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tasks_navy.png" id="63" name="Google Shape;63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4245" y="547908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/>
          <p:nvPr/>
        </p:nvSpPr>
        <p:spPr>
          <a:xfrm>
            <a:off x="1737360" y="512978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Plan de trabajo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1737360" y="5568696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Planning Poker, sprints e hitos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309360" y="4983480"/>
            <a:ext cx="5303520" cy="1371600"/>
          </a:xfrm>
          <a:prstGeom prst="roundRect">
            <a:avLst>
              <a:gd fmla="val 8000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6537960" y="5303520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chart_navy.png" id="68" name="Google Shape;68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13525" y="547908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"/>
          <p:cNvSpPr/>
          <p:nvPr/>
        </p:nvSpPr>
        <p:spPr>
          <a:xfrm>
            <a:off x="7406640" y="512978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Evidencias y cierre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7406640" y="5568696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Cómo se demuestra el logro del proyecto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/>
          <p:nvPr/>
        </p:nvSpPr>
        <p:spPr>
          <a:xfrm>
            <a:off x="10725912" y="-1005840"/>
            <a:ext cx="2377440" cy="2377440"/>
          </a:xfrm>
          <a:prstGeom prst="ellipse">
            <a:avLst/>
          </a:prstGeom>
          <a:solidFill>
            <a:srgbClr val="FCE3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11686032" y="5623560"/>
            <a:ext cx="1371600" cy="1371600"/>
          </a:xfrm>
          <a:prstGeom prst="ellipse">
            <a:avLst/>
          </a:prstGeom>
          <a:solidFill>
            <a:srgbClr val="F6F7F9"/>
          </a:solidFill>
          <a:ln cap="flat" cmpd="sng" w="1905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El origen del proyecto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Duoc UC  •  Punto Participa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40080" y="137160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Punto Participa nace de una necesidad real, validada en terreno junto al Punto Estudiantil de Sede Alameda.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40080" y="2148840"/>
            <a:ext cx="3429000" cy="3246120"/>
          </a:xfrm>
          <a:prstGeom prst="roundRect">
            <a:avLst>
              <a:gd fmla="val 3380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914400" y="2423160"/>
            <a:ext cx="1554480" cy="502920"/>
          </a:xfrm>
          <a:prstGeom prst="roundRect">
            <a:avLst>
              <a:gd fmla="val 14545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914400" y="242316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07 abr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914400" y="3154680"/>
            <a:ext cx="2880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Solicitud inicial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14400" y="3749040"/>
            <a:ext cx="2880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Se pide modificar una planilla Excel para detectar asistencias duplicadas.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389120" y="2148840"/>
            <a:ext cx="3429000" cy="3246120"/>
          </a:xfrm>
          <a:prstGeom prst="roundRect">
            <a:avLst>
              <a:gd fmla="val 3380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4663440" y="2423160"/>
            <a:ext cx="1554480" cy="502920"/>
          </a:xfrm>
          <a:prstGeom prst="roundRect">
            <a:avLst>
              <a:gd fmla="val 14545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4663440" y="242316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30 may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663440" y="3154680"/>
            <a:ext cx="2880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Primera reunión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663440" y="3749040"/>
            <a:ext cx="2880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Se evalúa junto al Punto Estudiantil crear una web con roles y mayor seguridad.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8138160" y="2148840"/>
            <a:ext cx="3429000" cy="3246120"/>
          </a:xfrm>
          <a:prstGeom prst="roundRect">
            <a:avLst>
              <a:gd fmla="val 3380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8412480" y="2423160"/>
            <a:ext cx="1554480" cy="502920"/>
          </a:xfrm>
          <a:prstGeom prst="roundRect">
            <a:avLst>
              <a:gd fmla="val 14545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8412480" y="242316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19 jun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8412480" y="3154680"/>
            <a:ext cx="2880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Reunión Punto estudiantil 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8412480" y="3749040"/>
            <a:ext cx="2880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Jefa del Punto Estudiantil; se agregan las peticiones que hoy son las épicas.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10817352" y="-1097280"/>
            <a:ext cx="2560320" cy="2560320"/>
          </a:xfrm>
          <a:prstGeom prst="ellipse">
            <a:avLst/>
          </a:prstGeom>
          <a:solidFill>
            <a:srgbClr val="1236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-731520" y="5669280"/>
            <a:ext cx="2011680" cy="2011680"/>
          </a:xfrm>
          <a:prstGeom prst="ellipse">
            <a:avLst/>
          </a:prstGeom>
          <a:solidFill>
            <a:srgbClr val="1236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EL PROBLEMA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Cómo se gestiona hoy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6C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6C4"/>
                </a:solidFill>
                <a:latin typeface="Arial"/>
                <a:ea typeface="Arial"/>
                <a:cs typeface="Arial"/>
                <a:sym typeface="Arial"/>
              </a:rPr>
              <a:t>Duoc UC  •  Punto Participa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6C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6C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40080" y="1600200"/>
            <a:ext cx="5303520" cy="1371600"/>
          </a:xfrm>
          <a:prstGeom prst="roundRect">
            <a:avLst>
              <a:gd fmla="val 8000" name="adj"/>
            </a:avLst>
          </a:prstGeom>
          <a:solidFill>
            <a:srgbClr val="1236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868680" y="1920240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database_navy.png"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4245" y="209580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1737360" y="174650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Excel + pendrive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1737360" y="2185416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6C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6C4"/>
                </a:solidFill>
                <a:latin typeface="Arial"/>
                <a:ea typeface="Arial"/>
                <a:cs typeface="Arial"/>
                <a:sym typeface="Arial"/>
              </a:rPr>
              <a:t>Sin control de acceso ni respaldo de la información.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6309360" y="1600200"/>
            <a:ext cx="5303520" cy="1371600"/>
          </a:xfrm>
          <a:prstGeom prst="roundRect">
            <a:avLst>
              <a:gd fmla="val 8000" name="adj"/>
            </a:avLst>
          </a:prstGeom>
          <a:solidFill>
            <a:srgbClr val="1236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6537960" y="1920240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envelope_navy.png" id="116" name="Google Shape;11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3525" y="209580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7406640" y="174650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Formularios externos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7406640" y="2185416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6C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6C4"/>
                </a:solidFill>
                <a:latin typeface="Arial"/>
                <a:ea typeface="Arial"/>
                <a:cs typeface="Arial"/>
                <a:sym typeface="Arial"/>
              </a:rPr>
              <a:t>No están integrados ni conectados al resto del proceso.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40080" y="3291840"/>
            <a:ext cx="5303520" cy="1371600"/>
          </a:xfrm>
          <a:prstGeom prst="roundRect">
            <a:avLst>
              <a:gd fmla="val 8000" name="adj"/>
            </a:avLst>
          </a:prstGeom>
          <a:solidFill>
            <a:srgbClr val="1236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868680" y="3611880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qrcode_navy.png" id="121" name="Google Shape;12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4245" y="378744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/>
          <p:nvPr/>
        </p:nvSpPr>
        <p:spPr>
          <a:xfrm>
            <a:off x="1737360" y="343814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 cupos en tiempo real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1737360" y="3877056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6C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6C4"/>
                </a:solidFill>
                <a:latin typeface="Arial"/>
                <a:ea typeface="Arial"/>
                <a:cs typeface="Arial"/>
                <a:sym typeface="Arial"/>
              </a:rPr>
              <a:t>Los estudiantes no saben si un taller sigue disponible.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309360" y="3291840"/>
            <a:ext cx="5303520" cy="1371600"/>
          </a:xfrm>
          <a:prstGeom prst="roundRect">
            <a:avLst>
              <a:gd fmla="val 8000" name="adj"/>
            </a:avLst>
          </a:prstGeom>
          <a:solidFill>
            <a:srgbClr val="1236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6537960" y="3611880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history_navy.png" id="126" name="Google Shape;12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3525" y="378744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/>
          <p:nvPr/>
        </p:nvSpPr>
        <p:spPr>
          <a:xfrm>
            <a:off x="7406640" y="343814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 trazabilidad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7406640" y="3877056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6C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6C4"/>
                </a:solidFill>
                <a:latin typeface="Arial"/>
                <a:ea typeface="Arial"/>
                <a:cs typeface="Arial"/>
                <a:sym typeface="Arial"/>
              </a:rPr>
              <a:t>No hay registro de quién hizo cada cambio ni cuándo.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/>
          <p:nvPr/>
        </p:nvSpPr>
        <p:spPr>
          <a:xfrm>
            <a:off x="10725912" y="-1005840"/>
            <a:ext cx="2377440" cy="2377440"/>
          </a:xfrm>
          <a:prstGeom prst="ellipse">
            <a:avLst/>
          </a:prstGeom>
          <a:solidFill>
            <a:srgbClr val="FCE3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11686032" y="5623560"/>
            <a:ext cx="1371600" cy="1371600"/>
          </a:xfrm>
          <a:prstGeom prst="ellipse">
            <a:avLst/>
          </a:prstGeom>
          <a:solidFill>
            <a:srgbClr val="F6F7F9"/>
          </a:solidFill>
          <a:ln cap="flat" cmpd="sng" w="1905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LA SOLUCIÓN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Punto Participa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Duoc UC  •  Punto Participa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640080" y="137160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Plataforma web centralizada con control de acceso por roles: Administrador, Creador de Evento y Encargado de Registro.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640080" y="2240280"/>
            <a:ext cx="5303520" cy="1417320"/>
          </a:xfrm>
          <a:prstGeom prst="roundRect">
            <a:avLst>
              <a:gd fmla="val 7742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868680" y="2583180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idcard_navy.png" id="143" name="Google Shape;14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4245" y="275874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/>
          <p:nvPr/>
        </p:nvSpPr>
        <p:spPr>
          <a:xfrm>
            <a:off x="1737360" y="238658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Control por roles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737360" y="2825496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Tres perfiles con permisos diferenciados según su función.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309360" y="2240280"/>
            <a:ext cx="5303520" cy="1417320"/>
          </a:xfrm>
          <a:prstGeom prst="roundRect">
            <a:avLst>
              <a:gd fmla="val 7742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6537960" y="2583180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qrcode_navy.png" id="148" name="Google Shape;14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3525" y="275874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/>
          <p:nvPr/>
        </p:nvSpPr>
        <p:spPr>
          <a:xfrm>
            <a:off x="7406640" y="238658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Registro rápido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7406640" y="2825496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RUT manual, QR de cédula o código de barras Vivo Duoc.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640080" y="3977640"/>
            <a:ext cx="5303520" cy="1417320"/>
          </a:xfrm>
          <a:prstGeom prst="roundRect">
            <a:avLst>
              <a:gd fmla="val 7742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868680" y="4320540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envelope_navy.png" id="153" name="Google Shape;15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4245" y="449610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5"/>
          <p:cNvSpPr/>
          <p:nvPr/>
        </p:nvSpPr>
        <p:spPr>
          <a:xfrm>
            <a:off x="1737360" y="412394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Invitaciones automáticas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1737360" y="4562856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Por correo, filtradas por carrera y/o jornada.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6309360" y="3977640"/>
            <a:ext cx="5303520" cy="1417320"/>
          </a:xfrm>
          <a:prstGeom prst="roundRect">
            <a:avLst>
              <a:gd fmla="val 7742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6537960" y="4320540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chart_navy.png" id="158" name="Google Shape;15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3525" y="449610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5"/>
          <p:cNvSpPr/>
          <p:nvPr/>
        </p:nvSpPr>
        <p:spPr>
          <a:xfrm>
            <a:off x="7406640" y="412394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Reportes y métricas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7406640" y="4562856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Consolidados y exportables a Excel/CSV con un clic.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/>
          <p:nvPr/>
        </p:nvSpPr>
        <p:spPr>
          <a:xfrm>
            <a:off x="10817352" y="-1097280"/>
            <a:ext cx="2560320" cy="2560320"/>
          </a:xfrm>
          <a:prstGeom prst="ellipse">
            <a:avLst/>
          </a:prstGeom>
          <a:solidFill>
            <a:srgbClr val="1236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-731520" y="5669280"/>
            <a:ext cx="2011680" cy="2011680"/>
          </a:xfrm>
          <a:prstGeom prst="ellipse">
            <a:avLst/>
          </a:prstGeom>
          <a:solidFill>
            <a:srgbClr val="1236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OBJETIVOS DEL PROYECTO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Qué queremos lograr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6C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6C4"/>
                </a:solidFill>
                <a:latin typeface="Arial"/>
                <a:ea typeface="Arial"/>
                <a:cs typeface="Arial"/>
                <a:sym typeface="Arial"/>
              </a:rPr>
              <a:t>Duoc UC  •  Punto Participa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6C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6C4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40080" y="1463040"/>
            <a:ext cx="10881360" cy="868680"/>
          </a:xfrm>
          <a:prstGeom prst="roundRect">
            <a:avLst>
              <a:gd fmla="val 12632" name="adj"/>
            </a:avLst>
          </a:prstGeom>
          <a:solidFill>
            <a:srgbClr val="1236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868680" y="1627632"/>
            <a:ext cx="548640" cy="54864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bullseye_navy.png" id="174" name="Google Shape;17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354" y="1759306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6"/>
          <p:cNvSpPr/>
          <p:nvPr/>
        </p:nvSpPr>
        <p:spPr>
          <a:xfrm>
            <a:off x="1600200" y="1463040"/>
            <a:ext cx="9692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Objetivo general: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centralizar la gestión de actividades, inscripciones y asistencia del Punto Estudiantil, reemplazando Excel y formularios dispersos.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oj/icons/checkcircle_yellow.png" id="176" name="Google Shape;17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67004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/>
          <p:nvPr/>
        </p:nvSpPr>
        <p:spPr>
          <a:xfrm>
            <a:off x="1143000" y="2596896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4E9EF"/>
                </a:solidFill>
                <a:latin typeface="Arial"/>
                <a:ea typeface="Arial"/>
                <a:cs typeface="Arial"/>
                <a:sym typeface="Arial"/>
              </a:rPr>
              <a:t>Registrar asistencia por RUT, QR o código de barras, sin duplicados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oj/icons/checkcircle_yellow.png" id="178" name="Google Shape;17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332841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6"/>
          <p:cNvSpPr/>
          <p:nvPr/>
        </p:nvSpPr>
        <p:spPr>
          <a:xfrm>
            <a:off x="1143000" y="3255264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4E9EF"/>
                </a:solidFill>
                <a:latin typeface="Arial"/>
                <a:ea typeface="Arial"/>
                <a:cs typeface="Arial"/>
                <a:sym typeface="Arial"/>
              </a:rPr>
              <a:t>Gestionar cupos de talleres con control de vacantes en tiempo real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oj/icons/checkcircle_yellow.png" id="180" name="Google Shape;18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398678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6"/>
          <p:cNvSpPr/>
          <p:nvPr/>
        </p:nvSpPr>
        <p:spPr>
          <a:xfrm>
            <a:off x="1143000" y="3913632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4E9EF"/>
                </a:solidFill>
                <a:latin typeface="Arial"/>
                <a:ea typeface="Arial"/>
                <a:cs typeface="Arial"/>
                <a:sym typeface="Arial"/>
              </a:rPr>
              <a:t>Restringir el acceso a cada función según el rol autenticado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oj/icons/checkcircle_yellow.png" id="182" name="Google Shape;18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464515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6"/>
          <p:cNvSpPr/>
          <p:nvPr/>
        </p:nvSpPr>
        <p:spPr>
          <a:xfrm>
            <a:off x="1143000" y="457200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4E9EF"/>
                </a:solidFill>
                <a:latin typeface="Arial"/>
                <a:ea typeface="Arial"/>
                <a:cs typeface="Arial"/>
                <a:sym typeface="Arial"/>
              </a:rPr>
              <a:t>Generar reportes exportables por carrera, jornada y evento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oj/icons/checkcircle_yellow.png" id="184" name="Google Shape;18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530352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6"/>
          <p:cNvSpPr/>
          <p:nvPr/>
        </p:nvSpPr>
        <p:spPr>
          <a:xfrm>
            <a:off x="1143000" y="5230368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4E9EF"/>
                </a:solidFill>
                <a:latin typeface="Arial"/>
                <a:ea typeface="Arial"/>
                <a:cs typeface="Arial"/>
                <a:sym typeface="Arial"/>
              </a:rPr>
              <a:t>Incorporar respaldo automático de la información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"/>
          <p:cNvSpPr/>
          <p:nvPr/>
        </p:nvSpPr>
        <p:spPr>
          <a:xfrm>
            <a:off x="10725912" y="-1005840"/>
            <a:ext cx="2377440" cy="2377440"/>
          </a:xfrm>
          <a:prstGeom prst="ellipse">
            <a:avLst/>
          </a:prstGeom>
          <a:solidFill>
            <a:srgbClr val="FCE3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11686032" y="5623560"/>
            <a:ext cx="1371600" cy="1371600"/>
          </a:xfrm>
          <a:prstGeom prst="ellipse">
            <a:avLst/>
          </a:prstGeom>
          <a:solidFill>
            <a:srgbClr val="F6F7F9"/>
          </a:solidFill>
          <a:ln cap="flat" cmpd="sng" w="1905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VINCULACIÓN ACADÉMICA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Perfil de egreso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Duoc UC  •  Punto Participa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El proyecto integra competencias de Ingeniería en Informática a lo largo de todo su desarrollo.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640080" y="2148840"/>
            <a:ext cx="6400800" cy="777240"/>
          </a:xfrm>
          <a:prstGeom prst="roundRect">
            <a:avLst>
              <a:gd fmla="val 11765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777240" y="2240280"/>
            <a:ext cx="594360" cy="5943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puzzle_navy.png" id="200" name="Google Shape;20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9886" y="238292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7"/>
          <p:cNvSpPr/>
          <p:nvPr/>
        </p:nvSpPr>
        <p:spPr>
          <a:xfrm>
            <a:off x="1554480" y="2148840"/>
            <a:ext cx="5349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Análisis y levantamiento de requerimientos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640080" y="3081528"/>
            <a:ext cx="6400800" cy="777240"/>
          </a:xfrm>
          <a:prstGeom prst="roundRect">
            <a:avLst>
              <a:gd fmla="val 11765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777240" y="3172968"/>
            <a:ext cx="594360" cy="5943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code_navy.png" id="204" name="Google Shape;20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9886" y="3315614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7"/>
          <p:cNvSpPr/>
          <p:nvPr/>
        </p:nvSpPr>
        <p:spPr>
          <a:xfrm>
            <a:off x="1554480" y="3081528"/>
            <a:ext cx="5349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Desarrollo de software Backend y Frontend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640080" y="4014216"/>
            <a:ext cx="6400800" cy="777240"/>
          </a:xfrm>
          <a:prstGeom prst="roundRect">
            <a:avLst>
              <a:gd fmla="val 11765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777240" y="4105656"/>
            <a:ext cx="594360" cy="5943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database_navy.png" id="208" name="Google Shape;20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9886" y="4248302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7"/>
          <p:cNvSpPr/>
          <p:nvPr/>
        </p:nvSpPr>
        <p:spPr>
          <a:xfrm>
            <a:off x="1554480" y="4014216"/>
            <a:ext cx="5349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Modelamiento y administración de datos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640080" y="4946904"/>
            <a:ext cx="6400800" cy="777240"/>
          </a:xfrm>
          <a:prstGeom prst="roundRect">
            <a:avLst>
              <a:gd fmla="val 11765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777240" y="5038344"/>
            <a:ext cx="594360" cy="5943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shield_navy.png" id="212" name="Google Shape;21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9886" y="5180990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7"/>
          <p:cNvSpPr/>
          <p:nvPr/>
        </p:nvSpPr>
        <p:spPr>
          <a:xfrm>
            <a:off x="1554480" y="4946904"/>
            <a:ext cx="5349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Control de acceso y aseguramiento de calidad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7360920" y="2148840"/>
            <a:ext cx="4160520" cy="3794760"/>
          </a:xfrm>
          <a:prstGeom prst="roundRect">
            <a:avLst>
              <a:gd fmla="val 3373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7635240" y="2423160"/>
            <a:ext cx="685800" cy="6858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layer_navy.png" id="216" name="Google Shape;21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99832" y="25877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7"/>
          <p:cNvSpPr/>
          <p:nvPr/>
        </p:nvSpPr>
        <p:spPr>
          <a:xfrm>
            <a:off x="8458200" y="246888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Arquitectura en 3 capas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7635240" y="3419856"/>
            <a:ext cx="128016" cy="128016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7909560" y="3264408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4E9EF"/>
                </a:solidFill>
                <a:latin typeface="Arial"/>
                <a:ea typeface="Arial"/>
                <a:cs typeface="Arial"/>
                <a:sym typeface="Arial"/>
              </a:rPr>
              <a:t>Presentación — HTML, CSS, JS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7635240" y="3986784"/>
            <a:ext cx="128016" cy="128016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7909560" y="3831336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4E9EF"/>
                </a:solidFill>
                <a:latin typeface="Arial"/>
                <a:ea typeface="Arial"/>
                <a:cs typeface="Arial"/>
                <a:sym typeface="Arial"/>
              </a:rPr>
              <a:t>Negocio — Python / Django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7635240" y="4553712"/>
            <a:ext cx="128016" cy="128016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7909560" y="4398264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4E9EF"/>
                </a:solidFill>
                <a:latin typeface="Arial"/>
                <a:ea typeface="Arial"/>
                <a:cs typeface="Arial"/>
                <a:sym typeface="Arial"/>
              </a:rPr>
              <a:t>Datos — PostgreSQL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7635240" y="5120640"/>
            <a:ext cx="128016" cy="128016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7909560" y="4965192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4E9EF"/>
                </a:solidFill>
                <a:latin typeface="Arial"/>
                <a:ea typeface="Arial"/>
                <a:cs typeface="Arial"/>
                <a:sym typeface="Arial"/>
              </a:rPr>
              <a:t>Versionado — Git y GitHub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"/>
          <p:cNvSpPr/>
          <p:nvPr/>
        </p:nvSpPr>
        <p:spPr>
          <a:xfrm>
            <a:off x="10725912" y="-1005840"/>
            <a:ext cx="2377440" cy="2377440"/>
          </a:xfrm>
          <a:prstGeom prst="ellipse">
            <a:avLst/>
          </a:prstGeom>
          <a:solidFill>
            <a:srgbClr val="FCE3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11686032" y="5623560"/>
            <a:ext cx="1371600" cy="1371600"/>
          </a:xfrm>
          <a:prstGeom prst="ellipse">
            <a:avLst/>
          </a:prstGeom>
          <a:solidFill>
            <a:srgbClr val="F6F7F9"/>
          </a:solidFill>
          <a:ln cap="flat" cmpd="sng" w="1905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NUESTRO EQUIPO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Roles y aspiraciones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Duoc UC  •  Punto Participa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640080" y="1600200"/>
            <a:ext cx="3429000" cy="3977640"/>
          </a:xfrm>
          <a:prstGeom prst="roundRect">
            <a:avLst>
              <a:gd fmla="val 3733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1851660" y="1920240"/>
            <a:ext cx="1005840" cy="10058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server_yellow.png" id="239" name="Google Shape;23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3062" y="2161642"/>
            <a:ext cx="523037" cy="523037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8"/>
          <p:cNvSpPr/>
          <p:nvPr/>
        </p:nvSpPr>
        <p:spPr>
          <a:xfrm>
            <a:off x="822960" y="3154680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Gabriel González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822960" y="3547872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Jefe de Proyecto / Backend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914400" y="3977640"/>
            <a:ext cx="2880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Scrum Master, arquitectura segura en Django y PostgreSQL.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4389120" y="1600200"/>
            <a:ext cx="3429000" cy="3977640"/>
          </a:xfrm>
          <a:prstGeom prst="roundRect">
            <a:avLst>
              <a:gd fmla="val 3733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5600700" y="1920240"/>
            <a:ext cx="1005840" cy="10058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desktop_yellow.png" id="245" name="Google Shape;24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2102" y="2161642"/>
            <a:ext cx="523037" cy="523037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8"/>
          <p:cNvSpPr/>
          <p:nvPr/>
        </p:nvSpPr>
        <p:spPr>
          <a:xfrm>
            <a:off x="4572000" y="3154680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Pablo Rebolledo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4572000" y="3547872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Desarrollador Frontend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4663440" y="3977640"/>
            <a:ext cx="2880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UX/UI, maquetación web y conexión con el backend.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8138160" y="1600200"/>
            <a:ext cx="3429000" cy="3977640"/>
          </a:xfrm>
          <a:prstGeom prst="roundRect">
            <a:avLst>
              <a:gd fmla="val 3733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9349740" y="1920240"/>
            <a:ext cx="1005840" cy="10058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database_yellow.png" id="251" name="Google Shape;25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91142" y="2161642"/>
            <a:ext cx="523037" cy="523037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8"/>
          <p:cNvSpPr/>
          <p:nvPr/>
        </p:nvSpPr>
        <p:spPr>
          <a:xfrm>
            <a:off x="8321040" y="3154680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Diverson Nonnombre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8321040" y="3547872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Base de Datos / QA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8412480" y="3977640"/>
            <a:ext cx="2880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Modelamiento PostgreSQL, testing y reportes.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"/>
          <p:cNvSpPr/>
          <p:nvPr/>
        </p:nvSpPr>
        <p:spPr>
          <a:xfrm>
            <a:off x="10817352" y="-1097280"/>
            <a:ext cx="2560320" cy="2560320"/>
          </a:xfrm>
          <a:prstGeom prst="ellipse">
            <a:avLst/>
          </a:prstGeom>
          <a:solidFill>
            <a:srgbClr val="1236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-731520" y="5669280"/>
            <a:ext cx="2011680" cy="2011680"/>
          </a:xfrm>
          <a:prstGeom prst="ellipse">
            <a:avLst/>
          </a:prstGeom>
          <a:solidFill>
            <a:srgbClr val="1236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METODOLOGÍA DE TRABAJO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Scrum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6C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6C4"/>
                </a:solidFill>
                <a:latin typeface="Arial"/>
                <a:ea typeface="Arial"/>
                <a:cs typeface="Arial"/>
                <a:sym typeface="Arial"/>
              </a:rPr>
              <a:t>Duoc UC  •  Punto Participa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6C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6C4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640080" y="137160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3DE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C9D3DE"/>
                </a:solidFill>
                <a:latin typeface="Arial"/>
                <a:ea typeface="Arial"/>
                <a:cs typeface="Arial"/>
                <a:sym typeface="Arial"/>
              </a:rPr>
              <a:t>El equipo trabaja bajo Scrum: 5 sprints de 2 semanas cada uno, con roles, ceremonias y artefactos definidos.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640080" y="20116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ROLES SCRUM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640080" y="2423160"/>
            <a:ext cx="594360" cy="5943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userscog_navy.png" id="269" name="Google Shape;26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726" y="256580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9"/>
          <p:cNvSpPr/>
          <p:nvPr/>
        </p:nvSpPr>
        <p:spPr>
          <a:xfrm>
            <a:off x="1371600" y="2404872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Scrum Master — Gabriel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1371600" y="2752344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6C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6C4"/>
                </a:solidFill>
                <a:latin typeface="Arial"/>
                <a:ea typeface="Arial"/>
                <a:cs typeface="Arial"/>
                <a:sym typeface="Arial"/>
              </a:rPr>
              <a:t>Facilita el proceso y remueve obstáculos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640080" y="3355848"/>
            <a:ext cx="594360" cy="5943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chalkboard_navy.png" id="273" name="Google Shape;27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2726" y="3498494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9"/>
          <p:cNvSpPr/>
          <p:nvPr/>
        </p:nvSpPr>
        <p:spPr>
          <a:xfrm>
            <a:off x="1371600" y="333756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 Owner — Punto Estudiantil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1371600" y="3685032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6C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6C4"/>
                </a:solidFill>
                <a:latin typeface="Arial"/>
                <a:ea typeface="Arial"/>
                <a:cs typeface="Arial"/>
                <a:sym typeface="Arial"/>
              </a:rPr>
              <a:t>Prioriza el backlog junto a </a:t>
            </a:r>
            <a:r>
              <a:rPr lang="en-US" sz="1100">
                <a:solidFill>
                  <a:srgbClr val="AAB6C4"/>
                </a:solidFill>
              </a:rPr>
              <a:t>Jefa del punto estudiantil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640080" y="4288536"/>
            <a:ext cx="594360" cy="5943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users_navy.png" id="277" name="Google Shape;27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2726" y="4431182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9"/>
          <p:cNvSpPr/>
          <p:nvPr/>
        </p:nvSpPr>
        <p:spPr>
          <a:xfrm>
            <a:off x="1371600" y="4270248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Equipo de desarrollo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1371600" y="461772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6C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6C4"/>
                </a:solidFill>
                <a:latin typeface="Arial"/>
                <a:ea typeface="Arial"/>
                <a:cs typeface="Arial"/>
                <a:sym typeface="Arial"/>
              </a:rPr>
              <a:t>Gabriel, Pablo y Diverson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6309360" y="201168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CEREMONIAS Y ARTEFACTOS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oj/icons/checkcircle_yellow.png" id="281" name="Google Shape;28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09360" y="24414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9"/>
          <p:cNvSpPr/>
          <p:nvPr/>
        </p:nvSpPr>
        <p:spPr>
          <a:xfrm>
            <a:off x="6720840" y="2368296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4E9EF"/>
                </a:solidFill>
                <a:latin typeface="Arial"/>
                <a:ea typeface="Arial"/>
                <a:cs typeface="Arial"/>
                <a:sym typeface="Arial"/>
              </a:rPr>
              <a:t>Sprint Planning al inicio de cada sprint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oj/icons/checkcircle_yellow.png" id="283" name="Google Shape;28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09360" y="29443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9"/>
          <p:cNvSpPr/>
          <p:nvPr/>
        </p:nvSpPr>
        <p:spPr>
          <a:xfrm>
            <a:off x="6720840" y="2871216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4E9EF"/>
                </a:solidFill>
                <a:latin typeface="Arial"/>
                <a:ea typeface="Arial"/>
                <a:cs typeface="Arial"/>
                <a:sym typeface="Arial"/>
              </a:rPr>
              <a:t>Daily Scrum breve de seguimiento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oj/icons/checkcircle_yellow.png" id="285" name="Google Shape;28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09360" y="34472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9"/>
          <p:cNvSpPr/>
          <p:nvPr/>
        </p:nvSpPr>
        <p:spPr>
          <a:xfrm>
            <a:off x="6720840" y="3374136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4E9EF"/>
                </a:solidFill>
                <a:latin typeface="Arial"/>
                <a:ea typeface="Arial"/>
                <a:cs typeface="Arial"/>
                <a:sym typeface="Arial"/>
              </a:rPr>
              <a:t>Sprint Review con el Punto Estudiantil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oj/icons/checkcircle_yellow.png" id="287" name="Google Shape;287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09360" y="39502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9"/>
          <p:cNvSpPr/>
          <p:nvPr/>
        </p:nvSpPr>
        <p:spPr>
          <a:xfrm>
            <a:off x="6720840" y="3877056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4E9EF"/>
                </a:solidFill>
                <a:latin typeface="Arial"/>
                <a:ea typeface="Arial"/>
                <a:cs typeface="Arial"/>
                <a:sym typeface="Arial"/>
              </a:rPr>
              <a:t>Retrospectiva de mejora continua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oj/icons/checkcircle_yellow.png" id="289" name="Google Shape;289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09360" y="44531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9"/>
          <p:cNvSpPr/>
          <p:nvPr/>
        </p:nvSpPr>
        <p:spPr>
          <a:xfrm>
            <a:off x="6720840" y="4379976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4E9EF"/>
                </a:solidFill>
                <a:latin typeface="Arial"/>
                <a:ea typeface="Arial"/>
                <a:cs typeface="Arial"/>
                <a:sym typeface="Arial"/>
              </a:rPr>
              <a:t>Product Backlog: las 8 épicas del proyecto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0"/>
          <p:cNvSpPr/>
          <p:nvPr/>
        </p:nvSpPr>
        <p:spPr>
          <a:xfrm>
            <a:off x="10725912" y="-1005840"/>
            <a:ext cx="2377440" cy="2377440"/>
          </a:xfrm>
          <a:prstGeom prst="ellipse">
            <a:avLst/>
          </a:prstGeom>
          <a:solidFill>
            <a:srgbClr val="FCE3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11686032" y="5623560"/>
            <a:ext cx="1371600" cy="1371600"/>
          </a:xfrm>
          <a:prstGeom prst="ellipse">
            <a:avLst/>
          </a:prstGeom>
          <a:solidFill>
            <a:srgbClr val="F6F7F9"/>
          </a:solidFill>
          <a:ln cap="flat" cmpd="sng" w="1905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ANÁLISIS DE FACTIBILIDAD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¿Por qué es viable?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Duoc UC  •  Punto Participa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640080" y="1645920"/>
            <a:ext cx="3413760" cy="2377440"/>
          </a:xfrm>
          <a:prstGeom prst="roundRect">
            <a:avLst>
              <a:gd fmla="val 4615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868680" y="2468880"/>
            <a:ext cx="731520" cy="7315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calendar_yellow.png" id="304" name="Google Shape;30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4245" y="264444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0"/>
          <p:cNvSpPr/>
          <p:nvPr/>
        </p:nvSpPr>
        <p:spPr>
          <a:xfrm>
            <a:off x="1737360" y="1792224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Tiempo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1737360" y="2231136"/>
            <a:ext cx="213360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10 semanas de desarrollo (S5–S14), dimensionadas con Planning Poker.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4419600" y="1645920"/>
            <a:ext cx="3413760" cy="2377440"/>
          </a:xfrm>
          <a:prstGeom prst="roundRect">
            <a:avLst>
              <a:gd fmla="val 4615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4648200" y="2468880"/>
            <a:ext cx="731520" cy="7315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layer_yellow.png" id="309" name="Google Shape;30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3765" y="264444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0"/>
          <p:cNvSpPr/>
          <p:nvPr/>
        </p:nvSpPr>
        <p:spPr>
          <a:xfrm>
            <a:off x="5516880" y="1792224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Recursos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5516880" y="2231136"/>
            <a:ext cx="213360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Stack gratuito y ya dominado por el equipo; lectores ya disponibles.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8199120" y="1645920"/>
            <a:ext cx="3413760" cy="2377440"/>
          </a:xfrm>
          <a:prstGeom prst="roundRect">
            <a:avLst>
              <a:gd fmla="val 4615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"/>
          <p:cNvSpPr/>
          <p:nvPr/>
        </p:nvSpPr>
        <p:spPr>
          <a:xfrm>
            <a:off x="8427720" y="2468880"/>
            <a:ext cx="731520" cy="7315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handshake_yellow.png" id="314" name="Google Shape;31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03285" y="264444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0"/>
          <p:cNvSpPr/>
          <p:nvPr/>
        </p:nvSpPr>
        <p:spPr>
          <a:xfrm>
            <a:off x="9296400" y="1792224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Factores externos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9296400" y="2231136"/>
            <a:ext cx="213360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Contraparte real y comprometida: Punto Estudiantil Sede Alameda.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640080" y="4251960"/>
            <a:ext cx="10881360" cy="1051560"/>
          </a:xfrm>
          <a:prstGeom prst="roundRect">
            <a:avLst>
              <a:gd fmla="val 10435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868680" y="4434840"/>
            <a:ext cx="685800" cy="6858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scale_navy.png" id="319" name="Google Shape;31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3272" y="459943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0"/>
          <p:cNvSpPr/>
          <p:nvPr/>
        </p:nvSpPr>
        <p:spPr>
          <a:xfrm>
            <a:off x="1737360" y="4251960"/>
            <a:ext cx="9601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Ante atrasos o cambios de alcance: </a:t>
            </a:r>
            <a:r>
              <a:rPr b="0" i="0" lang="en-US" sz="125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se priorizan las épicas de mayor puntaje (Asistencia, Reportes y Gestión de Actividades, 8 PF c/u) sobre las de menor impacto.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"/>
          <p:cNvSpPr/>
          <p:nvPr/>
        </p:nvSpPr>
        <p:spPr>
          <a:xfrm>
            <a:off x="10817352" y="-1097280"/>
            <a:ext cx="2560320" cy="2560320"/>
          </a:xfrm>
          <a:prstGeom prst="ellipse">
            <a:avLst/>
          </a:prstGeom>
          <a:solidFill>
            <a:srgbClr val="1236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-731520" y="5669280"/>
            <a:ext cx="2011680" cy="2011680"/>
          </a:xfrm>
          <a:prstGeom prst="ellipse">
            <a:avLst/>
          </a:prstGeom>
          <a:solidFill>
            <a:srgbClr val="1236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PLAN DE TRABAJO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Facilitadores y obstaculizadores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6C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6C4"/>
                </a:solidFill>
                <a:latin typeface="Arial"/>
                <a:ea typeface="Arial"/>
                <a:cs typeface="Arial"/>
                <a:sym typeface="Arial"/>
              </a:rPr>
              <a:t>Duoc UC  •  Punto Participa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6C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6C4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640080" y="1691640"/>
            <a:ext cx="5166360" cy="4297680"/>
          </a:xfrm>
          <a:prstGeom prst="roundRect">
            <a:avLst>
              <a:gd fmla="val 2979" name="adj"/>
            </a:avLst>
          </a:prstGeom>
          <a:solidFill>
            <a:srgbClr val="1236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914400" y="1965960"/>
            <a:ext cx="2286000" cy="457200"/>
          </a:xfrm>
          <a:prstGeom prst="roundRect">
            <a:avLst>
              <a:gd fmla="val 50000" name="adj"/>
            </a:avLst>
          </a:prstGeom>
          <a:solidFill>
            <a:srgbClr val="2E9E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914400" y="19659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FACILITADORES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oj/icons/checkcircle_yellow.png" id="335" name="Google Shape;33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6517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1"/>
          <p:cNvSpPr/>
          <p:nvPr/>
        </p:nvSpPr>
        <p:spPr>
          <a:xfrm>
            <a:off x="1325880" y="2560320"/>
            <a:ext cx="4206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E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CE3EA"/>
                </a:solidFill>
                <a:latin typeface="Arial"/>
                <a:ea typeface="Arial"/>
                <a:cs typeface="Arial"/>
                <a:sym typeface="Arial"/>
              </a:rPr>
              <a:t>Cliente real y comprometido, con necesidad ya validada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oj/icons/checkcircle_yellow.png" id="337" name="Google Shape;33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4747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1"/>
          <p:cNvSpPr/>
          <p:nvPr/>
        </p:nvSpPr>
        <p:spPr>
          <a:xfrm>
            <a:off x="1325880" y="3383280"/>
            <a:ext cx="4206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E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CE3EA"/>
                </a:solidFill>
                <a:latin typeface="Arial"/>
                <a:ea typeface="Arial"/>
                <a:cs typeface="Arial"/>
                <a:sym typeface="Arial"/>
              </a:rPr>
              <a:t>Equipo con experiencia previa en Django y PostgreSQL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oj/icons/checkcircle_yellow.png" id="339" name="Google Shape;33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42976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1"/>
          <p:cNvSpPr/>
          <p:nvPr/>
        </p:nvSpPr>
        <p:spPr>
          <a:xfrm>
            <a:off x="1325880" y="4206240"/>
            <a:ext cx="4206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E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CE3EA"/>
                </a:solidFill>
                <a:latin typeface="Arial"/>
                <a:ea typeface="Arial"/>
                <a:cs typeface="Arial"/>
                <a:sym typeface="Arial"/>
              </a:rPr>
              <a:t>Dispositivos de lectura ya disponibles, sin inversión extra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oj/icons/checkcircle_yellow.png" id="341" name="Google Shape;34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51206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1"/>
          <p:cNvSpPr/>
          <p:nvPr/>
        </p:nvSpPr>
        <p:spPr>
          <a:xfrm>
            <a:off x="1325880" y="5029200"/>
            <a:ext cx="4206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E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CE3EA"/>
                </a:solidFill>
                <a:latin typeface="Arial"/>
                <a:ea typeface="Arial"/>
                <a:cs typeface="Arial"/>
                <a:sym typeface="Arial"/>
              </a:rPr>
              <a:t>Certificaciones en ciberseguridad y Scrum Master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6172200" y="1691640"/>
            <a:ext cx="5166360" cy="4297680"/>
          </a:xfrm>
          <a:prstGeom prst="roundRect">
            <a:avLst>
              <a:gd fmla="val 2979" name="adj"/>
            </a:avLst>
          </a:prstGeom>
          <a:solidFill>
            <a:srgbClr val="1236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1"/>
          <p:cNvSpPr/>
          <p:nvPr/>
        </p:nvSpPr>
        <p:spPr>
          <a:xfrm>
            <a:off x="6446520" y="1965960"/>
            <a:ext cx="2286000" cy="457200"/>
          </a:xfrm>
          <a:prstGeom prst="roundRect">
            <a:avLst>
              <a:gd fmla="val 50000" name="adj"/>
            </a:avLst>
          </a:prstGeom>
          <a:solidFill>
            <a:srgbClr val="C043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1"/>
          <p:cNvSpPr/>
          <p:nvPr/>
        </p:nvSpPr>
        <p:spPr>
          <a:xfrm>
            <a:off x="6446520" y="19659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OBSTACULIZADORES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oj/icons/history_yellow.png" id="346" name="Google Shape;34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6520" y="26517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1"/>
          <p:cNvSpPr/>
          <p:nvPr/>
        </p:nvSpPr>
        <p:spPr>
          <a:xfrm>
            <a:off x="6858000" y="2560320"/>
            <a:ext cx="4206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E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CE3EA"/>
                </a:solidFill>
                <a:latin typeface="Arial"/>
                <a:ea typeface="Arial"/>
                <a:cs typeface="Arial"/>
                <a:sym typeface="Arial"/>
              </a:rPr>
              <a:t>Horas limitadas por otras asignaturas del semestre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oj/icons/history_yellow.png" id="348" name="Google Shape;34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6520" y="34747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1"/>
          <p:cNvSpPr/>
          <p:nvPr/>
        </p:nvSpPr>
        <p:spPr>
          <a:xfrm>
            <a:off x="6858000" y="3383280"/>
            <a:ext cx="4206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E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CE3EA"/>
                </a:solidFill>
                <a:latin typeface="Arial"/>
                <a:ea typeface="Arial"/>
                <a:cs typeface="Arial"/>
                <a:sym typeface="Arial"/>
              </a:rPr>
              <a:t>Dependencia de disponibilidad del Punto Estudiantil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oj/icons/history_yellow.png" id="350" name="Google Shape;35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6520" y="42976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1"/>
          <p:cNvSpPr/>
          <p:nvPr/>
        </p:nvSpPr>
        <p:spPr>
          <a:xfrm>
            <a:off x="6858000" y="4206240"/>
            <a:ext cx="4206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E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CE3EA"/>
                </a:solidFill>
                <a:latin typeface="Arial"/>
                <a:ea typeface="Arial"/>
                <a:cs typeface="Arial"/>
                <a:sym typeface="Arial"/>
              </a:rPr>
              <a:t>Impresoras para vales de colación aún no disponibles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oj/icons/history_yellow.png" id="352" name="Google Shape;35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6520" y="51206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1"/>
          <p:cNvSpPr/>
          <p:nvPr/>
        </p:nvSpPr>
        <p:spPr>
          <a:xfrm>
            <a:off x="6858000" y="5029200"/>
            <a:ext cx="4206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E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CE3EA"/>
                </a:solidFill>
                <a:latin typeface="Arial"/>
                <a:ea typeface="Arial"/>
                <a:cs typeface="Arial"/>
                <a:sym typeface="Arial"/>
              </a:rPr>
              <a:t>Sprints 1 y 2 con mayor carga (13 PF c/u): exigen monitoreo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2"/>
          <p:cNvSpPr/>
          <p:nvPr/>
        </p:nvSpPr>
        <p:spPr>
          <a:xfrm>
            <a:off x="10725912" y="-1005840"/>
            <a:ext cx="2377440" cy="2377440"/>
          </a:xfrm>
          <a:prstGeom prst="ellipse">
            <a:avLst/>
          </a:prstGeom>
          <a:solidFill>
            <a:srgbClr val="FCE3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2"/>
          <p:cNvSpPr/>
          <p:nvPr/>
        </p:nvSpPr>
        <p:spPr>
          <a:xfrm>
            <a:off x="11686032" y="5623560"/>
            <a:ext cx="1371600" cy="1371600"/>
          </a:xfrm>
          <a:prstGeom prst="ellipse">
            <a:avLst/>
          </a:prstGeom>
          <a:solidFill>
            <a:srgbClr val="F6F7F9"/>
          </a:solidFill>
          <a:ln cap="flat" cmpd="sng" w="1905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"/>
          <p:cNvSpPr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PRODUCTO MÍNIMO VIABLE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Cómo funciona, en 4 pasos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Duoc UC  •  Punto Participa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640080" y="1965960"/>
            <a:ext cx="2606040" cy="3383280"/>
          </a:xfrm>
          <a:prstGeom prst="roundRect">
            <a:avLst>
              <a:gd fmla="val 4211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2"/>
          <p:cNvSpPr/>
          <p:nvPr/>
        </p:nvSpPr>
        <p:spPr>
          <a:xfrm>
            <a:off x="1508760" y="2286000"/>
            <a:ext cx="868680" cy="8686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clipboard_navy.png" id="367" name="Google Shape;36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7243" y="2494483"/>
            <a:ext cx="451714" cy="451714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2"/>
          <p:cNvSpPr/>
          <p:nvPr/>
        </p:nvSpPr>
        <p:spPr>
          <a:xfrm>
            <a:off x="777240" y="338328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1. Crear actividad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822960" y="4023360"/>
            <a:ext cx="2240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El Creador de Evento define el tipo: masiva o taller con cupo.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 rot="5400000">
            <a:off x="3264408" y="3474720"/>
            <a:ext cx="182880" cy="182880"/>
          </a:xfrm>
          <a:prstGeom prst="triangle">
            <a:avLst>
              <a:gd fmla="val 50000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2"/>
          <p:cNvSpPr/>
          <p:nvPr/>
        </p:nvSpPr>
        <p:spPr>
          <a:xfrm>
            <a:off x="3474720" y="1965960"/>
            <a:ext cx="2606040" cy="3383280"/>
          </a:xfrm>
          <a:prstGeom prst="roundRect">
            <a:avLst>
              <a:gd fmla="val 4211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2"/>
          <p:cNvSpPr/>
          <p:nvPr/>
        </p:nvSpPr>
        <p:spPr>
          <a:xfrm>
            <a:off x="4343400" y="2286000"/>
            <a:ext cx="868680" cy="8686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envelope_navy.png" id="373" name="Google Shape;37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51883" y="2494483"/>
            <a:ext cx="451714" cy="451714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2"/>
          <p:cNvSpPr/>
          <p:nvPr/>
        </p:nvSpPr>
        <p:spPr>
          <a:xfrm>
            <a:off x="3611880" y="338328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2. Convocar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3657600" y="4023360"/>
            <a:ext cx="2240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Se invita por correo según carrera/jornada, o se difunde el evento.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 rot="5400000">
            <a:off x="6099048" y="3474720"/>
            <a:ext cx="182880" cy="182880"/>
          </a:xfrm>
          <a:prstGeom prst="triangle">
            <a:avLst>
              <a:gd fmla="val 50000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2"/>
          <p:cNvSpPr/>
          <p:nvPr/>
        </p:nvSpPr>
        <p:spPr>
          <a:xfrm>
            <a:off x="6309360" y="1965960"/>
            <a:ext cx="2606040" cy="3383280"/>
          </a:xfrm>
          <a:prstGeom prst="roundRect">
            <a:avLst>
              <a:gd fmla="val 4211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2"/>
          <p:cNvSpPr/>
          <p:nvPr/>
        </p:nvSpPr>
        <p:spPr>
          <a:xfrm>
            <a:off x="7178040" y="2286000"/>
            <a:ext cx="868680" cy="8686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qrcode_navy.png" id="379" name="Google Shape;37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86523" y="2494483"/>
            <a:ext cx="451714" cy="451714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2"/>
          <p:cNvSpPr/>
          <p:nvPr/>
        </p:nvSpPr>
        <p:spPr>
          <a:xfrm>
            <a:off x="6446520" y="338328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3. Registrar asistencia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6492240" y="4023360"/>
            <a:ext cx="2240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RUT manual, QR de cédula o código de barras Vivo Duoc.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 rot="5400000">
            <a:off x="8933688" y="3474720"/>
            <a:ext cx="182880" cy="182880"/>
          </a:xfrm>
          <a:prstGeom prst="triangle">
            <a:avLst>
              <a:gd fmla="val 50000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9144000" y="1965960"/>
            <a:ext cx="2606040" cy="3383280"/>
          </a:xfrm>
          <a:prstGeom prst="roundRect">
            <a:avLst>
              <a:gd fmla="val 4211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2"/>
          <p:cNvSpPr/>
          <p:nvPr/>
        </p:nvSpPr>
        <p:spPr>
          <a:xfrm>
            <a:off x="10012680" y="2286000"/>
            <a:ext cx="868680" cy="8686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chart_navy.png" id="385" name="Google Shape;385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21163" y="2494483"/>
            <a:ext cx="451714" cy="451714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2"/>
          <p:cNvSpPr/>
          <p:nvPr/>
        </p:nvSpPr>
        <p:spPr>
          <a:xfrm>
            <a:off x="9281160" y="338328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4. Ver reportes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9326880" y="4023360"/>
            <a:ext cx="2240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Métricas consolidadas y exportación a Excel/CSV.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3"/>
          <p:cNvSpPr/>
          <p:nvPr/>
        </p:nvSpPr>
        <p:spPr>
          <a:xfrm>
            <a:off x="10817352" y="-1097280"/>
            <a:ext cx="2560320" cy="2560320"/>
          </a:xfrm>
          <a:prstGeom prst="ellipse">
            <a:avLst/>
          </a:prstGeom>
          <a:solidFill>
            <a:srgbClr val="1236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3"/>
          <p:cNvSpPr/>
          <p:nvPr/>
        </p:nvSpPr>
        <p:spPr>
          <a:xfrm>
            <a:off x="-731520" y="5669280"/>
            <a:ext cx="2011680" cy="2011680"/>
          </a:xfrm>
          <a:prstGeom prst="ellipse">
            <a:avLst/>
          </a:prstGeom>
          <a:solidFill>
            <a:srgbClr val="1236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3"/>
          <p:cNvSpPr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DOS MODALIDADES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Masiva vs. Taller con cupo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6C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6C4"/>
                </a:solidFill>
                <a:latin typeface="Arial"/>
                <a:ea typeface="Arial"/>
                <a:cs typeface="Arial"/>
                <a:sym typeface="Arial"/>
              </a:rPr>
              <a:t>Duoc UC  •  Punto Participa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6C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6C4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640080" y="1737360"/>
            <a:ext cx="5166360" cy="4114800"/>
          </a:xfrm>
          <a:prstGeom prst="roundRect">
            <a:avLst>
              <a:gd fmla="val 3111" name="adj"/>
            </a:avLst>
          </a:prstGeom>
          <a:solidFill>
            <a:srgbClr val="1236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3"/>
          <p:cNvSpPr/>
          <p:nvPr/>
        </p:nvSpPr>
        <p:spPr>
          <a:xfrm>
            <a:off x="960120" y="2057400"/>
            <a:ext cx="868680" cy="8686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users_navy.png" id="401" name="Google Shape;40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8603" y="2265883"/>
            <a:ext cx="451714" cy="451714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3"/>
          <p:cNvSpPr/>
          <p:nvPr/>
        </p:nvSpPr>
        <p:spPr>
          <a:xfrm>
            <a:off x="2011680" y="2103120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Actividad Masiva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oj/icons/checkcircle_yellow.png" id="403" name="Google Shape;40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0120" y="324612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3"/>
          <p:cNvSpPr/>
          <p:nvPr/>
        </p:nvSpPr>
        <p:spPr>
          <a:xfrm>
            <a:off x="1417320" y="3172968"/>
            <a:ext cx="4069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E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CE3EA"/>
                </a:solidFill>
                <a:latin typeface="Arial"/>
                <a:ea typeface="Arial"/>
                <a:cs typeface="Arial"/>
                <a:sym typeface="Arial"/>
              </a:rPr>
              <a:t>Sin inscripción previa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oj/icons/checkcircle_yellow.png" id="405" name="Google Shape;40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0120" y="402336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3"/>
          <p:cNvSpPr/>
          <p:nvPr/>
        </p:nvSpPr>
        <p:spPr>
          <a:xfrm>
            <a:off x="1417320" y="3950208"/>
            <a:ext cx="4069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E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CE3EA"/>
                </a:solidFill>
                <a:latin typeface="Arial"/>
                <a:ea typeface="Arial"/>
                <a:cs typeface="Arial"/>
                <a:sym typeface="Arial"/>
              </a:rPr>
              <a:t>Registro directo en fila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oj/icons/checkcircle_yellow.png" id="407" name="Google Shape;40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0120" y="480060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13"/>
          <p:cNvSpPr/>
          <p:nvPr/>
        </p:nvSpPr>
        <p:spPr>
          <a:xfrm>
            <a:off x="1417320" y="4727448"/>
            <a:ext cx="4069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E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CE3EA"/>
                </a:solidFill>
                <a:latin typeface="Arial"/>
                <a:ea typeface="Arial"/>
                <a:cs typeface="Arial"/>
                <a:sym typeface="Arial"/>
              </a:rPr>
              <a:t>Correo informativo opcional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6172200" y="1737360"/>
            <a:ext cx="5166360" cy="4114800"/>
          </a:xfrm>
          <a:prstGeom prst="roundRect">
            <a:avLst>
              <a:gd fmla="val 3111" name="adj"/>
            </a:avLst>
          </a:prstGeom>
          <a:solidFill>
            <a:srgbClr val="1236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3"/>
          <p:cNvSpPr/>
          <p:nvPr/>
        </p:nvSpPr>
        <p:spPr>
          <a:xfrm>
            <a:off x="6492240" y="2057400"/>
            <a:ext cx="868680" cy="8686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ticket_navy.png" id="411" name="Google Shape;41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00723" y="2265883"/>
            <a:ext cx="451714" cy="451714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3"/>
          <p:cNvSpPr/>
          <p:nvPr/>
        </p:nvSpPr>
        <p:spPr>
          <a:xfrm>
            <a:off x="7543800" y="2103120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Taller con Cupo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oj/icons/checkcircle_yellow.png" id="413" name="Google Shape;41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0" y="324612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3"/>
          <p:cNvSpPr/>
          <p:nvPr/>
        </p:nvSpPr>
        <p:spPr>
          <a:xfrm>
            <a:off x="6949440" y="3172968"/>
            <a:ext cx="4069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E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CE3EA"/>
                </a:solidFill>
                <a:latin typeface="Arial"/>
                <a:ea typeface="Arial"/>
                <a:cs typeface="Arial"/>
                <a:sym typeface="Arial"/>
              </a:rPr>
              <a:t>Vacantes visibles en tiempo real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oj/icons/checkcircle_yellow.png" id="415" name="Google Shape;41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0" y="402336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3"/>
          <p:cNvSpPr/>
          <p:nvPr/>
        </p:nvSpPr>
        <p:spPr>
          <a:xfrm>
            <a:off x="6949440" y="3950208"/>
            <a:ext cx="4069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E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CE3EA"/>
                </a:solidFill>
                <a:latin typeface="Arial"/>
                <a:ea typeface="Arial"/>
                <a:cs typeface="Arial"/>
                <a:sym typeface="Arial"/>
              </a:rPr>
              <a:t>Invitación por correo dirigida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oj/icons/checkcircle_yellow.png" id="417" name="Google Shape;41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0" y="480060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3"/>
          <p:cNvSpPr/>
          <p:nvPr/>
        </p:nvSpPr>
        <p:spPr>
          <a:xfrm>
            <a:off x="6949440" y="4727448"/>
            <a:ext cx="4069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E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CE3EA"/>
                </a:solidFill>
                <a:latin typeface="Arial"/>
                <a:ea typeface="Arial"/>
                <a:cs typeface="Arial"/>
                <a:sym typeface="Arial"/>
              </a:rPr>
              <a:t>Bloqueo transaccional al llenarse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4"/>
          <p:cNvSpPr/>
          <p:nvPr/>
        </p:nvSpPr>
        <p:spPr>
          <a:xfrm>
            <a:off x="10725912" y="-1005840"/>
            <a:ext cx="2377440" cy="2377440"/>
          </a:xfrm>
          <a:prstGeom prst="ellipse">
            <a:avLst/>
          </a:prstGeom>
          <a:solidFill>
            <a:srgbClr val="FCE3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4"/>
          <p:cNvSpPr/>
          <p:nvPr/>
        </p:nvSpPr>
        <p:spPr>
          <a:xfrm>
            <a:off x="11686032" y="5623560"/>
            <a:ext cx="1371600" cy="1371600"/>
          </a:xfrm>
          <a:prstGeom prst="ellipse">
            <a:avLst/>
          </a:prstGeom>
          <a:solidFill>
            <a:srgbClr val="F6F7F9"/>
          </a:solidFill>
          <a:ln cap="flat" cmpd="sng" w="1905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4"/>
          <p:cNvSpPr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ÉPICAS DEL PROYECTO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Funcionalidades clave (1/2)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Duoc UC  •  Punto Participa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640080" y="1600200"/>
            <a:ext cx="5303520" cy="1417320"/>
          </a:xfrm>
          <a:prstGeom prst="roundRect">
            <a:avLst>
              <a:gd fmla="val 7742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4"/>
          <p:cNvSpPr/>
          <p:nvPr/>
        </p:nvSpPr>
        <p:spPr>
          <a:xfrm>
            <a:off x="868680" y="1943100"/>
            <a:ext cx="731520" cy="7315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qrcode_yellow.png" id="432" name="Google Shape;43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4245" y="211866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4"/>
          <p:cNvSpPr/>
          <p:nvPr/>
        </p:nvSpPr>
        <p:spPr>
          <a:xfrm>
            <a:off x="1737360" y="174650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001 · Registro de asistencia — 8 PF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1737360" y="2185416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RUT, QR o código de barras, sin duplicados.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6309360" y="1600200"/>
            <a:ext cx="5303520" cy="1417320"/>
          </a:xfrm>
          <a:prstGeom prst="roundRect">
            <a:avLst>
              <a:gd fmla="val 7742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4"/>
          <p:cNvSpPr/>
          <p:nvPr/>
        </p:nvSpPr>
        <p:spPr>
          <a:xfrm>
            <a:off x="6537960" y="1943100"/>
            <a:ext cx="731520" cy="7315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ticket_yellow.png" id="437" name="Google Shape;43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3525" y="211866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4"/>
          <p:cNvSpPr/>
          <p:nvPr/>
        </p:nvSpPr>
        <p:spPr>
          <a:xfrm>
            <a:off x="7406640" y="174650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002 · Cupos e inscripciones — 8 PF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7406640" y="2185416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Disponibilidad en tiempo real, control transaccional.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640080" y="3337560"/>
            <a:ext cx="5303520" cy="1417320"/>
          </a:xfrm>
          <a:prstGeom prst="roundRect">
            <a:avLst>
              <a:gd fmla="val 7742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4"/>
          <p:cNvSpPr/>
          <p:nvPr/>
        </p:nvSpPr>
        <p:spPr>
          <a:xfrm>
            <a:off x="868680" y="3680460"/>
            <a:ext cx="731520" cy="7315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envelope_yellow.png" id="442" name="Google Shape;44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4245" y="385602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14"/>
          <p:cNvSpPr/>
          <p:nvPr/>
        </p:nvSpPr>
        <p:spPr>
          <a:xfrm>
            <a:off x="1737360" y="348386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003 · Invitaciones por correo — 5 PF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4"/>
          <p:cNvSpPr/>
          <p:nvPr/>
        </p:nvSpPr>
        <p:spPr>
          <a:xfrm>
            <a:off x="1737360" y="3922776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Automáticas, filtradas por carrera y jornada.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6309360" y="3337560"/>
            <a:ext cx="5303520" cy="1417320"/>
          </a:xfrm>
          <a:prstGeom prst="roundRect">
            <a:avLst>
              <a:gd fmla="val 7742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4"/>
          <p:cNvSpPr/>
          <p:nvPr/>
        </p:nvSpPr>
        <p:spPr>
          <a:xfrm>
            <a:off x="6537960" y="3680460"/>
            <a:ext cx="731520" cy="7315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userscog_yellow.png" id="447" name="Google Shape;44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3525" y="385602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14"/>
          <p:cNvSpPr/>
          <p:nvPr/>
        </p:nvSpPr>
        <p:spPr>
          <a:xfrm>
            <a:off x="7406640" y="348386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004 · Usuarios y roles — 5 PF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7406640" y="3922776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Administrador, Creador de Evento, Encargado de Registro.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5"/>
          <p:cNvSpPr/>
          <p:nvPr/>
        </p:nvSpPr>
        <p:spPr>
          <a:xfrm>
            <a:off x="10725912" y="-1005840"/>
            <a:ext cx="2377440" cy="2377440"/>
          </a:xfrm>
          <a:prstGeom prst="ellipse">
            <a:avLst/>
          </a:prstGeom>
          <a:solidFill>
            <a:srgbClr val="FCE3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5"/>
          <p:cNvSpPr/>
          <p:nvPr/>
        </p:nvSpPr>
        <p:spPr>
          <a:xfrm>
            <a:off x="11686032" y="5623560"/>
            <a:ext cx="1371600" cy="1371600"/>
          </a:xfrm>
          <a:prstGeom prst="ellipse">
            <a:avLst/>
          </a:prstGeom>
          <a:solidFill>
            <a:srgbClr val="F6F7F9"/>
          </a:solidFill>
          <a:ln cap="flat" cmpd="sng" w="1905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5"/>
          <p:cNvSpPr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ÉPICAS DEL PROYECTO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5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Funcionalidades clave (2/2)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Duoc UC  •  Punto Participa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5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5"/>
          <p:cNvSpPr/>
          <p:nvPr/>
        </p:nvSpPr>
        <p:spPr>
          <a:xfrm>
            <a:off x="640080" y="1600200"/>
            <a:ext cx="5303520" cy="1417320"/>
          </a:xfrm>
          <a:prstGeom prst="roundRect">
            <a:avLst>
              <a:gd fmla="val 7742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5"/>
          <p:cNvSpPr/>
          <p:nvPr/>
        </p:nvSpPr>
        <p:spPr>
          <a:xfrm>
            <a:off x="868680" y="1943100"/>
            <a:ext cx="731520" cy="7315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chart_yellow.png" id="463" name="Google Shape;46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4245" y="211866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15"/>
          <p:cNvSpPr/>
          <p:nvPr/>
        </p:nvSpPr>
        <p:spPr>
          <a:xfrm>
            <a:off x="1737360" y="174650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005 · Reportes y métricas — 8 PF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5"/>
          <p:cNvSpPr/>
          <p:nvPr/>
        </p:nvSpPr>
        <p:spPr>
          <a:xfrm>
            <a:off x="1737360" y="2185416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Consolidados por carrera, jornada y evento.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5"/>
          <p:cNvSpPr/>
          <p:nvPr/>
        </p:nvSpPr>
        <p:spPr>
          <a:xfrm>
            <a:off x="6309360" y="1600200"/>
            <a:ext cx="5303520" cy="1417320"/>
          </a:xfrm>
          <a:prstGeom prst="roundRect">
            <a:avLst>
              <a:gd fmla="val 7742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5"/>
          <p:cNvSpPr/>
          <p:nvPr/>
        </p:nvSpPr>
        <p:spPr>
          <a:xfrm>
            <a:off x="6537960" y="1943100"/>
            <a:ext cx="731520" cy="7315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clipboard_yellow.png" id="468" name="Google Shape;46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3525" y="211866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15"/>
          <p:cNvSpPr/>
          <p:nvPr/>
        </p:nvSpPr>
        <p:spPr>
          <a:xfrm>
            <a:off x="7406640" y="174650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006 · Gestión de actividades — 8 PF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7406640" y="2185416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Creación, edición y catálogo centralizado.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5"/>
          <p:cNvSpPr/>
          <p:nvPr/>
        </p:nvSpPr>
        <p:spPr>
          <a:xfrm>
            <a:off x="640080" y="3337560"/>
            <a:ext cx="5303520" cy="1417320"/>
          </a:xfrm>
          <a:prstGeom prst="roundRect">
            <a:avLst>
              <a:gd fmla="val 7742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5"/>
          <p:cNvSpPr/>
          <p:nvPr/>
        </p:nvSpPr>
        <p:spPr>
          <a:xfrm>
            <a:off x="868680" y="3680460"/>
            <a:ext cx="731520" cy="7315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history_yellow.png" id="473" name="Google Shape;47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4245" y="385602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15"/>
          <p:cNvSpPr/>
          <p:nvPr/>
        </p:nvSpPr>
        <p:spPr>
          <a:xfrm>
            <a:off x="1737360" y="348386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007 · Auditoría y trazabilidad — 5 PF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1737360" y="3922776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Registro de acciones, cambios y duplicados.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6309360" y="3337560"/>
            <a:ext cx="5303520" cy="1417320"/>
          </a:xfrm>
          <a:prstGeom prst="roundRect">
            <a:avLst>
              <a:gd fmla="val 7742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5"/>
          <p:cNvSpPr/>
          <p:nvPr/>
        </p:nvSpPr>
        <p:spPr>
          <a:xfrm>
            <a:off x="6537960" y="3680460"/>
            <a:ext cx="731520" cy="7315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cloud_yellow.png" id="478" name="Google Shape;47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3525" y="385602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15"/>
          <p:cNvSpPr/>
          <p:nvPr/>
        </p:nvSpPr>
        <p:spPr>
          <a:xfrm>
            <a:off x="7406640" y="348386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008 · Respaldo y continuidad — 3 PF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7406640" y="3922776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Respaldo periódico de la información, sin interrumpir el servicio.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6"/>
          <p:cNvSpPr/>
          <p:nvPr/>
        </p:nvSpPr>
        <p:spPr>
          <a:xfrm>
            <a:off x="10725912" y="-1005840"/>
            <a:ext cx="2377440" cy="2377440"/>
          </a:xfrm>
          <a:prstGeom prst="ellipse">
            <a:avLst/>
          </a:prstGeom>
          <a:solidFill>
            <a:srgbClr val="FCE3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6"/>
          <p:cNvSpPr/>
          <p:nvPr/>
        </p:nvSpPr>
        <p:spPr>
          <a:xfrm>
            <a:off x="11686032" y="5623560"/>
            <a:ext cx="1371600" cy="1371600"/>
          </a:xfrm>
          <a:prstGeom prst="ellipse">
            <a:avLst/>
          </a:prstGeom>
          <a:solidFill>
            <a:srgbClr val="F6F7F9"/>
          </a:solidFill>
          <a:ln cap="flat" cmpd="sng" w="1905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6"/>
          <p:cNvSpPr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PLAN DE TRABAJO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6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Dimensionamiento — Planning Poker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Duoc UC  •  Punto Participa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6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6"/>
          <p:cNvSpPr/>
          <p:nvPr/>
        </p:nvSpPr>
        <p:spPr>
          <a:xfrm>
            <a:off x="640080" y="1508760"/>
            <a:ext cx="42062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001 · Registro de asistencia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6"/>
          <p:cNvSpPr/>
          <p:nvPr/>
        </p:nvSpPr>
        <p:spPr>
          <a:xfrm>
            <a:off x="4983480" y="1591056"/>
            <a:ext cx="5669280" cy="210312"/>
          </a:xfrm>
          <a:prstGeom prst="roundRect">
            <a:avLst>
              <a:gd fmla="val 26087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6"/>
          <p:cNvSpPr/>
          <p:nvPr/>
        </p:nvSpPr>
        <p:spPr>
          <a:xfrm>
            <a:off x="4983480" y="1591056"/>
            <a:ext cx="5669280" cy="210312"/>
          </a:xfrm>
          <a:prstGeom prst="roundRect">
            <a:avLst>
              <a:gd fmla="val 26087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6"/>
          <p:cNvSpPr/>
          <p:nvPr/>
        </p:nvSpPr>
        <p:spPr>
          <a:xfrm>
            <a:off x="10789920" y="1508760"/>
            <a:ext cx="8229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8 PF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6"/>
          <p:cNvSpPr/>
          <p:nvPr/>
        </p:nvSpPr>
        <p:spPr>
          <a:xfrm>
            <a:off x="640080" y="1993392"/>
            <a:ext cx="42062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002 · Cupos e inscripciones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6"/>
          <p:cNvSpPr/>
          <p:nvPr/>
        </p:nvSpPr>
        <p:spPr>
          <a:xfrm>
            <a:off x="4983480" y="2075688"/>
            <a:ext cx="5669280" cy="210312"/>
          </a:xfrm>
          <a:prstGeom prst="roundRect">
            <a:avLst>
              <a:gd fmla="val 26087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6"/>
          <p:cNvSpPr/>
          <p:nvPr/>
        </p:nvSpPr>
        <p:spPr>
          <a:xfrm>
            <a:off x="4983480" y="2075688"/>
            <a:ext cx="5669280" cy="210312"/>
          </a:xfrm>
          <a:prstGeom prst="roundRect">
            <a:avLst>
              <a:gd fmla="val 26087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6"/>
          <p:cNvSpPr/>
          <p:nvPr/>
        </p:nvSpPr>
        <p:spPr>
          <a:xfrm>
            <a:off x="10789920" y="1993392"/>
            <a:ext cx="8229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8 PF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6"/>
          <p:cNvSpPr/>
          <p:nvPr/>
        </p:nvSpPr>
        <p:spPr>
          <a:xfrm>
            <a:off x="640080" y="2478024"/>
            <a:ext cx="42062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003 · Invitaciones por correo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6"/>
          <p:cNvSpPr/>
          <p:nvPr/>
        </p:nvSpPr>
        <p:spPr>
          <a:xfrm>
            <a:off x="4983480" y="2560320"/>
            <a:ext cx="5669280" cy="210312"/>
          </a:xfrm>
          <a:prstGeom prst="roundRect">
            <a:avLst>
              <a:gd fmla="val 26087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6"/>
          <p:cNvSpPr/>
          <p:nvPr/>
        </p:nvSpPr>
        <p:spPr>
          <a:xfrm>
            <a:off x="4983480" y="2560320"/>
            <a:ext cx="3543300" cy="210312"/>
          </a:xfrm>
          <a:prstGeom prst="roundRect">
            <a:avLst>
              <a:gd fmla="val 26087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6"/>
          <p:cNvSpPr/>
          <p:nvPr/>
        </p:nvSpPr>
        <p:spPr>
          <a:xfrm>
            <a:off x="10789920" y="2478024"/>
            <a:ext cx="8229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5 PF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6"/>
          <p:cNvSpPr/>
          <p:nvPr/>
        </p:nvSpPr>
        <p:spPr>
          <a:xfrm>
            <a:off x="640080" y="2962656"/>
            <a:ext cx="42062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004 · Usuarios y roles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6"/>
          <p:cNvSpPr/>
          <p:nvPr/>
        </p:nvSpPr>
        <p:spPr>
          <a:xfrm>
            <a:off x="4983480" y="3044952"/>
            <a:ext cx="5669280" cy="210312"/>
          </a:xfrm>
          <a:prstGeom prst="roundRect">
            <a:avLst>
              <a:gd fmla="val 26087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6"/>
          <p:cNvSpPr/>
          <p:nvPr/>
        </p:nvSpPr>
        <p:spPr>
          <a:xfrm>
            <a:off x="4983480" y="3044952"/>
            <a:ext cx="3543300" cy="210312"/>
          </a:xfrm>
          <a:prstGeom prst="roundRect">
            <a:avLst>
              <a:gd fmla="val 26087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6"/>
          <p:cNvSpPr/>
          <p:nvPr/>
        </p:nvSpPr>
        <p:spPr>
          <a:xfrm>
            <a:off x="10789920" y="2962656"/>
            <a:ext cx="8229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5 PF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640080" y="3447288"/>
            <a:ext cx="42062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005 · Reportes y métricas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6"/>
          <p:cNvSpPr/>
          <p:nvPr/>
        </p:nvSpPr>
        <p:spPr>
          <a:xfrm>
            <a:off x="4983480" y="3529584"/>
            <a:ext cx="5669280" cy="210312"/>
          </a:xfrm>
          <a:prstGeom prst="roundRect">
            <a:avLst>
              <a:gd fmla="val 26087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6"/>
          <p:cNvSpPr/>
          <p:nvPr/>
        </p:nvSpPr>
        <p:spPr>
          <a:xfrm>
            <a:off x="4983480" y="3529584"/>
            <a:ext cx="5669280" cy="210312"/>
          </a:xfrm>
          <a:prstGeom prst="roundRect">
            <a:avLst>
              <a:gd fmla="val 26087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6"/>
          <p:cNvSpPr/>
          <p:nvPr/>
        </p:nvSpPr>
        <p:spPr>
          <a:xfrm>
            <a:off x="10789920" y="3447288"/>
            <a:ext cx="8229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8 PF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6"/>
          <p:cNvSpPr/>
          <p:nvPr/>
        </p:nvSpPr>
        <p:spPr>
          <a:xfrm>
            <a:off x="640080" y="3931920"/>
            <a:ext cx="42062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006 · Gestión de actividades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6"/>
          <p:cNvSpPr/>
          <p:nvPr/>
        </p:nvSpPr>
        <p:spPr>
          <a:xfrm>
            <a:off x="4983480" y="4014216"/>
            <a:ext cx="5669280" cy="210312"/>
          </a:xfrm>
          <a:prstGeom prst="roundRect">
            <a:avLst>
              <a:gd fmla="val 26087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6"/>
          <p:cNvSpPr/>
          <p:nvPr/>
        </p:nvSpPr>
        <p:spPr>
          <a:xfrm>
            <a:off x="4983480" y="4014216"/>
            <a:ext cx="5669280" cy="210312"/>
          </a:xfrm>
          <a:prstGeom prst="roundRect">
            <a:avLst>
              <a:gd fmla="val 26087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6"/>
          <p:cNvSpPr/>
          <p:nvPr/>
        </p:nvSpPr>
        <p:spPr>
          <a:xfrm>
            <a:off x="10789920" y="3931920"/>
            <a:ext cx="8229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8 PF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6"/>
          <p:cNvSpPr/>
          <p:nvPr/>
        </p:nvSpPr>
        <p:spPr>
          <a:xfrm>
            <a:off x="640080" y="4416552"/>
            <a:ext cx="42062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007 · Auditoría y trazabilidad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6"/>
          <p:cNvSpPr/>
          <p:nvPr/>
        </p:nvSpPr>
        <p:spPr>
          <a:xfrm>
            <a:off x="4983480" y="4498848"/>
            <a:ext cx="5669280" cy="210312"/>
          </a:xfrm>
          <a:prstGeom prst="roundRect">
            <a:avLst>
              <a:gd fmla="val 26087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6"/>
          <p:cNvSpPr/>
          <p:nvPr/>
        </p:nvSpPr>
        <p:spPr>
          <a:xfrm>
            <a:off x="4983480" y="4498848"/>
            <a:ext cx="3543300" cy="210312"/>
          </a:xfrm>
          <a:prstGeom prst="roundRect">
            <a:avLst>
              <a:gd fmla="val 26087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6"/>
          <p:cNvSpPr/>
          <p:nvPr/>
        </p:nvSpPr>
        <p:spPr>
          <a:xfrm>
            <a:off x="10789920" y="4416552"/>
            <a:ext cx="8229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5 PF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6"/>
          <p:cNvSpPr/>
          <p:nvPr/>
        </p:nvSpPr>
        <p:spPr>
          <a:xfrm>
            <a:off x="640080" y="4901184"/>
            <a:ext cx="42062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008 · Respaldo y continuidad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6"/>
          <p:cNvSpPr/>
          <p:nvPr/>
        </p:nvSpPr>
        <p:spPr>
          <a:xfrm>
            <a:off x="4983480" y="4983480"/>
            <a:ext cx="5669280" cy="210312"/>
          </a:xfrm>
          <a:prstGeom prst="roundRect">
            <a:avLst>
              <a:gd fmla="val 26087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6"/>
          <p:cNvSpPr/>
          <p:nvPr/>
        </p:nvSpPr>
        <p:spPr>
          <a:xfrm>
            <a:off x="4983480" y="4983480"/>
            <a:ext cx="2125980" cy="210312"/>
          </a:xfrm>
          <a:prstGeom prst="roundRect">
            <a:avLst>
              <a:gd fmla="val 26087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6"/>
          <p:cNvSpPr/>
          <p:nvPr/>
        </p:nvSpPr>
        <p:spPr>
          <a:xfrm>
            <a:off x="10789920" y="4901184"/>
            <a:ext cx="8229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3 PF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6"/>
          <p:cNvSpPr/>
          <p:nvPr/>
        </p:nvSpPr>
        <p:spPr>
          <a:xfrm>
            <a:off x="640080" y="5495544"/>
            <a:ext cx="10881360" cy="502920"/>
          </a:xfrm>
          <a:prstGeom prst="roundRect">
            <a:avLst>
              <a:gd fmla="val 14545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6"/>
          <p:cNvSpPr/>
          <p:nvPr/>
        </p:nvSpPr>
        <p:spPr>
          <a:xfrm>
            <a:off x="640080" y="5495544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Total del proyecto: 50 Puntos de Función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7"/>
          <p:cNvSpPr/>
          <p:nvPr/>
        </p:nvSpPr>
        <p:spPr>
          <a:xfrm>
            <a:off x="10817352" y="-1097280"/>
            <a:ext cx="2560320" cy="2560320"/>
          </a:xfrm>
          <a:prstGeom prst="ellipse">
            <a:avLst/>
          </a:prstGeom>
          <a:solidFill>
            <a:srgbClr val="1236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7"/>
          <p:cNvSpPr/>
          <p:nvPr/>
        </p:nvSpPr>
        <p:spPr>
          <a:xfrm>
            <a:off x="-731520" y="5669280"/>
            <a:ext cx="2011680" cy="2011680"/>
          </a:xfrm>
          <a:prstGeom prst="ellipse">
            <a:avLst/>
          </a:prstGeom>
          <a:solidFill>
            <a:srgbClr val="1236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7"/>
          <p:cNvSpPr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PLAN DE TRABAJO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7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 sprints de 2 semanas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6C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6C4"/>
                </a:solidFill>
                <a:latin typeface="Arial"/>
                <a:ea typeface="Arial"/>
                <a:cs typeface="Arial"/>
                <a:sym typeface="Arial"/>
              </a:rPr>
              <a:t>Duoc UC  •  Punto Participa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7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6C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6C4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7"/>
          <p:cNvSpPr/>
          <p:nvPr/>
        </p:nvSpPr>
        <p:spPr>
          <a:xfrm>
            <a:off x="2331720" y="1143000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Sprint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7"/>
          <p:cNvSpPr/>
          <p:nvPr/>
        </p:nvSpPr>
        <p:spPr>
          <a:xfrm>
            <a:off x="3922776" y="1143000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Sprint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7"/>
          <p:cNvSpPr/>
          <p:nvPr/>
        </p:nvSpPr>
        <p:spPr>
          <a:xfrm>
            <a:off x="5513832" y="1143000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Sprint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7"/>
          <p:cNvSpPr/>
          <p:nvPr/>
        </p:nvSpPr>
        <p:spPr>
          <a:xfrm>
            <a:off x="7104888" y="1143000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Sprint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7"/>
          <p:cNvSpPr/>
          <p:nvPr/>
        </p:nvSpPr>
        <p:spPr>
          <a:xfrm>
            <a:off x="8695944" y="1143000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Sprint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7"/>
          <p:cNvSpPr/>
          <p:nvPr/>
        </p:nvSpPr>
        <p:spPr>
          <a:xfrm>
            <a:off x="2331720" y="1463040"/>
            <a:ext cx="795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0C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7"/>
          <p:cNvSpPr/>
          <p:nvPr/>
        </p:nvSpPr>
        <p:spPr>
          <a:xfrm>
            <a:off x="3127248" y="1463040"/>
            <a:ext cx="795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0C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7"/>
          <p:cNvSpPr/>
          <p:nvPr/>
        </p:nvSpPr>
        <p:spPr>
          <a:xfrm>
            <a:off x="3922776" y="1463040"/>
            <a:ext cx="795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0C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7"/>
          <p:cNvSpPr/>
          <p:nvPr/>
        </p:nvSpPr>
        <p:spPr>
          <a:xfrm>
            <a:off x="4718304" y="1463040"/>
            <a:ext cx="795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0C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7"/>
          <p:cNvSpPr/>
          <p:nvPr/>
        </p:nvSpPr>
        <p:spPr>
          <a:xfrm>
            <a:off x="5513832" y="1463040"/>
            <a:ext cx="795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0C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7"/>
          <p:cNvSpPr/>
          <p:nvPr/>
        </p:nvSpPr>
        <p:spPr>
          <a:xfrm>
            <a:off x="6309360" y="1463040"/>
            <a:ext cx="795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0C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7"/>
          <p:cNvSpPr/>
          <p:nvPr/>
        </p:nvSpPr>
        <p:spPr>
          <a:xfrm>
            <a:off x="7104888" y="1463040"/>
            <a:ext cx="795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0C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7"/>
          <p:cNvSpPr/>
          <p:nvPr/>
        </p:nvSpPr>
        <p:spPr>
          <a:xfrm>
            <a:off x="7900416" y="1463040"/>
            <a:ext cx="795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0C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7"/>
          <p:cNvSpPr/>
          <p:nvPr/>
        </p:nvSpPr>
        <p:spPr>
          <a:xfrm>
            <a:off x="8695944" y="1463040"/>
            <a:ext cx="795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0C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7"/>
          <p:cNvSpPr/>
          <p:nvPr/>
        </p:nvSpPr>
        <p:spPr>
          <a:xfrm>
            <a:off x="9491472" y="1463040"/>
            <a:ext cx="795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0C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7"/>
          <p:cNvSpPr/>
          <p:nvPr/>
        </p:nvSpPr>
        <p:spPr>
          <a:xfrm>
            <a:off x="640080" y="18288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4E9EF"/>
                </a:solidFill>
                <a:latin typeface="Arial"/>
                <a:ea typeface="Arial"/>
                <a:cs typeface="Arial"/>
                <a:sym typeface="Arial"/>
              </a:rPr>
              <a:t>004 Usuarios y roles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7"/>
          <p:cNvSpPr/>
          <p:nvPr/>
        </p:nvSpPr>
        <p:spPr>
          <a:xfrm>
            <a:off x="2359152" y="1874520"/>
            <a:ext cx="1536192" cy="274320"/>
          </a:xfrm>
          <a:prstGeom prst="roundRect">
            <a:avLst>
              <a:gd fmla="val 16667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7"/>
          <p:cNvSpPr/>
          <p:nvPr/>
        </p:nvSpPr>
        <p:spPr>
          <a:xfrm>
            <a:off x="640080" y="223113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4E9EF"/>
                </a:solidFill>
                <a:latin typeface="Arial"/>
                <a:ea typeface="Arial"/>
                <a:cs typeface="Arial"/>
                <a:sym typeface="Arial"/>
              </a:rPr>
              <a:t>006 Gestión activ.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7"/>
          <p:cNvSpPr/>
          <p:nvPr/>
        </p:nvSpPr>
        <p:spPr>
          <a:xfrm>
            <a:off x="2359152" y="2276856"/>
            <a:ext cx="1536192" cy="274320"/>
          </a:xfrm>
          <a:prstGeom prst="roundRect">
            <a:avLst>
              <a:gd fmla="val 16667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7"/>
          <p:cNvSpPr/>
          <p:nvPr/>
        </p:nvSpPr>
        <p:spPr>
          <a:xfrm>
            <a:off x="640080" y="263347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4E9EF"/>
                </a:solidFill>
                <a:latin typeface="Arial"/>
                <a:ea typeface="Arial"/>
                <a:cs typeface="Arial"/>
                <a:sym typeface="Arial"/>
              </a:rPr>
              <a:t>001 Asistencia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7"/>
          <p:cNvSpPr/>
          <p:nvPr/>
        </p:nvSpPr>
        <p:spPr>
          <a:xfrm>
            <a:off x="3950208" y="2679192"/>
            <a:ext cx="1536192" cy="274320"/>
          </a:xfrm>
          <a:prstGeom prst="roundRect">
            <a:avLst>
              <a:gd fmla="val 16667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7"/>
          <p:cNvSpPr/>
          <p:nvPr/>
        </p:nvSpPr>
        <p:spPr>
          <a:xfrm>
            <a:off x="640080" y="3035808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4E9EF"/>
                </a:solidFill>
                <a:latin typeface="Arial"/>
                <a:ea typeface="Arial"/>
                <a:cs typeface="Arial"/>
                <a:sym typeface="Arial"/>
              </a:rPr>
              <a:t>007 Auditoría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7"/>
          <p:cNvSpPr/>
          <p:nvPr/>
        </p:nvSpPr>
        <p:spPr>
          <a:xfrm>
            <a:off x="3950208" y="3081528"/>
            <a:ext cx="1536192" cy="274320"/>
          </a:xfrm>
          <a:prstGeom prst="roundRect">
            <a:avLst>
              <a:gd fmla="val 16667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7"/>
          <p:cNvSpPr/>
          <p:nvPr/>
        </p:nvSpPr>
        <p:spPr>
          <a:xfrm>
            <a:off x="640080" y="343814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4E9EF"/>
                </a:solidFill>
                <a:latin typeface="Arial"/>
                <a:ea typeface="Arial"/>
                <a:cs typeface="Arial"/>
                <a:sym typeface="Arial"/>
              </a:rPr>
              <a:t>002 Cupos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7"/>
          <p:cNvSpPr/>
          <p:nvPr/>
        </p:nvSpPr>
        <p:spPr>
          <a:xfrm>
            <a:off x="5541264" y="3483864"/>
            <a:ext cx="1536192" cy="274320"/>
          </a:xfrm>
          <a:prstGeom prst="roundRect">
            <a:avLst>
              <a:gd fmla="val 16667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7"/>
          <p:cNvSpPr/>
          <p:nvPr/>
        </p:nvSpPr>
        <p:spPr>
          <a:xfrm>
            <a:off x="640080" y="384048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4E9EF"/>
                </a:solidFill>
                <a:latin typeface="Arial"/>
                <a:ea typeface="Arial"/>
                <a:cs typeface="Arial"/>
                <a:sym typeface="Arial"/>
              </a:rPr>
              <a:t>008 Respaldo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7"/>
          <p:cNvSpPr/>
          <p:nvPr/>
        </p:nvSpPr>
        <p:spPr>
          <a:xfrm>
            <a:off x="7132320" y="3886200"/>
            <a:ext cx="1536192" cy="274320"/>
          </a:xfrm>
          <a:prstGeom prst="roundRect">
            <a:avLst>
              <a:gd fmla="val 16667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7"/>
          <p:cNvSpPr/>
          <p:nvPr/>
        </p:nvSpPr>
        <p:spPr>
          <a:xfrm>
            <a:off x="640080" y="424281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4E9EF"/>
                </a:solidFill>
                <a:latin typeface="Arial"/>
                <a:ea typeface="Arial"/>
                <a:cs typeface="Arial"/>
                <a:sym typeface="Arial"/>
              </a:rPr>
              <a:t>003 Invitaciones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7"/>
          <p:cNvSpPr/>
          <p:nvPr/>
        </p:nvSpPr>
        <p:spPr>
          <a:xfrm>
            <a:off x="7132320" y="4288536"/>
            <a:ext cx="1536192" cy="274320"/>
          </a:xfrm>
          <a:prstGeom prst="roundRect">
            <a:avLst>
              <a:gd fmla="val 16667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7"/>
          <p:cNvSpPr/>
          <p:nvPr/>
        </p:nvSpPr>
        <p:spPr>
          <a:xfrm>
            <a:off x="640080" y="464515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4E9EF"/>
                </a:solidFill>
                <a:latin typeface="Arial"/>
                <a:ea typeface="Arial"/>
                <a:cs typeface="Arial"/>
                <a:sym typeface="Arial"/>
              </a:rPr>
              <a:t>005 Reportes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7"/>
          <p:cNvSpPr/>
          <p:nvPr/>
        </p:nvSpPr>
        <p:spPr>
          <a:xfrm>
            <a:off x="8723376" y="4690872"/>
            <a:ext cx="1536192" cy="274320"/>
          </a:xfrm>
          <a:prstGeom prst="roundRect">
            <a:avLst>
              <a:gd fmla="val 16667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7"/>
          <p:cNvSpPr/>
          <p:nvPr/>
        </p:nvSpPr>
        <p:spPr>
          <a:xfrm>
            <a:off x="640080" y="52120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C4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rPr>
              <a:t>Sprints 1 y 2 concentran mayor carga (13 PF c/u) por ser la base estructural del sistema.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8"/>
          <p:cNvSpPr/>
          <p:nvPr/>
        </p:nvSpPr>
        <p:spPr>
          <a:xfrm>
            <a:off x="10725912" y="-1005840"/>
            <a:ext cx="2377440" cy="2377440"/>
          </a:xfrm>
          <a:prstGeom prst="ellipse">
            <a:avLst/>
          </a:prstGeom>
          <a:solidFill>
            <a:srgbClr val="FCE3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8"/>
          <p:cNvSpPr/>
          <p:nvPr/>
        </p:nvSpPr>
        <p:spPr>
          <a:xfrm>
            <a:off x="11686032" y="5623560"/>
            <a:ext cx="1371600" cy="1371600"/>
          </a:xfrm>
          <a:prstGeom prst="ellipse">
            <a:avLst/>
          </a:prstGeom>
          <a:solidFill>
            <a:srgbClr val="F6F7F9"/>
          </a:solidFill>
          <a:ln cap="flat" cmpd="sng" w="1905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8"/>
          <p:cNvSpPr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PLAN DE TRABAJO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8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Hitos y evidencias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Duoc UC  •  Punto Participa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8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8"/>
          <p:cNvSpPr/>
          <p:nvPr/>
        </p:nvSpPr>
        <p:spPr>
          <a:xfrm>
            <a:off x="640080" y="14173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HITOS DEL PROYECTO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8"/>
          <p:cNvSpPr/>
          <p:nvPr/>
        </p:nvSpPr>
        <p:spPr>
          <a:xfrm>
            <a:off x="640080" y="1828800"/>
            <a:ext cx="594360" cy="457200"/>
          </a:xfrm>
          <a:prstGeom prst="roundRect">
            <a:avLst>
              <a:gd fmla="val 16000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8"/>
          <p:cNvSpPr/>
          <p:nvPr/>
        </p:nvSpPr>
        <p:spPr>
          <a:xfrm>
            <a:off x="640080" y="182880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S6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8"/>
          <p:cNvSpPr/>
          <p:nvPr/>
        </p:nvSpPr>
        <p:spPr>
          <a:xfrm>
            <a:off x="1371600" y="182880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Usuarios, roles y catálogo de actividades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8"/>
          <p:cNvSpPr/>
          <p:nvPr/>
        </p:nvSpPr>
        <p:spPr>
          <a:xfrm>
            <a:off x="640080" y="2450592"/>
            <a:ext cx="594360" cy="457200"/>
          </a:xfrm>
          <a:prstGeom prst="roundRect">
            <a:avLst>
              <a:gd fmla="val 16000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8"/>
          <p:cNvSpPr/>
          <p:nvPr/>
        </p:nvSpPr>
        <p:spPr>
          <a:xfrm>
            <a:off x="640080" y="2450592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S8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8"/>
          <p:cNvSpPr/>
          <p:nvPr/>
        </p:nvSpPr>
        <p:spPr>
          <a:xfrm>
            <a:off x="1371600" y="2450592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Asistencia con control de duplicados y auditoría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8"/>
          <p:cNvSpPr/>
          <p:nvPr/>
        </p:nvSpPr>
        <p:spPr>
          <a:xfrm>
            <a:off x="640080" y="3072384"/>
            <a:ext cx="594360" cy="457200"/>
          </a:xfrm>
          <a:prstGeom prst="roundRect">
            <a:avLst>
              <a:gd fmla="val 16000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8"/>
          <p:cNvSpPr/>
          <p:nvPr/>
        </p:nvSpPr>
        <p:spPr>
          <a:xfrm>
            <a:off x="640080" y="3072384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S10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8"/>
          <p:cNvSpPr/>
          <p:nvPr/>
        </p:nvSpPr>
        <p:spPr>
          <a:xfrm>
            <a:off x="1371600" y="3072384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Inscripción a talleres con cupos transaccionales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8"/>
          <p:cNvSpPr/>
          <p:nvPr/>
        </p:nvSpPr>
        <p:spPr>
          <a:xfrm>
            <a:off x="640080" y="3694176"/>
            <a:ext cx="594360" cy="457200"/>
          </a:xfrm>
          <a:prstGeom prst="roundRect">
            <a:avLst>
              <a:gd fmla="val 16000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8"/>
          <p:cNvSpPr/>
          <p:nvPr/>
        </p:nvSpPr>
        <p:spPr>
          <a:xfrm>
            <a:off x="640080" y="3694176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S12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8"/>
          <p:cNvSpPr/>
          <p:nvPr/>
        </p:nvSpPr>
        <p:spPr>
          <a:xfrm>
            <a:off x="1371600" y="3694176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Respaldo automático e invitaciones por correo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8"/>
          <p:cNvSpPr/>
          <p:nvPr/>
        </p:nvSpPr>
        <p:spPr>
          <a:xfrm>
            <a:off x="640080" y="4315968"/>
            <a:ext cx="594360" cy="457200"/>
          </a:xfrm>
          <a:prstGeom prst="roundRect">
            <a:avLst>
              <a:gd fmla="val 16000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8"/>
          <p:cNvSpPr/>
          <p:nvPr/>
        </p:nvSpPr>
        <p:spPr>
          <a:xfrm>
            <a:off x="640080" y="4315968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S14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8"/>
          <p:cNvSpPr/>
          <p:nvPr/>
        </p:nvSpPr>
        <p:spPr>
          <a:xfrm>
            <a:off x="1371600" y="4315968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Reportes, integración y pruebas finales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8"/>
          <p:cNvSpPr/>
          <p:nvPr/>
        </p:nvSpPr>
        <p:spPr>
          <a:xfrm>
            <a:off x="6400800" y="1783080"/>
            <a:ext cx="5166360" cy="4023360"/>
          </a:xfrm>
          <a:prstGeom prst="roundRect">
            <a:avLst>
              <a:gd fmla="val 3182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8"/>
          <p:cNvSpPr/>
          <p:nvPr/>
        </p:nvSpPr>
        <p:spPr>
          <a:xfrm>
            <a:off x="6675120" y="19659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EVIDENCIAS DEL PROYECTO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8"/>
          <p:cNvSpPr/>
          <p:nvPr/>
        </p:nvSpPr>
        <p:spPr>
          <a:xfrm>
            <a:off x="6675120" y="2423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code_navy.png" id="599" name="Google Shape;59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5821" y="254386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18"/>
          <p:cNvSpPr/>
          <p:nvPr/>
        </p:nvSpPr>
        <p:spPr>
          <a:xfrm>
            <a:off x="7296912" y="2395728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4E9EF"/>
                </a:solidFill>
                <a:latin typeface="Arial"/>
                <a:ea typeface="Arial"/>
                <a:cs typeface="Arial"/>
                <a:sym typeface="Arial"/>
              </a:rPr>
              <a:t>Repositorio en GitHub con historial de commits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8"/>
          <p:cNvSpPr/>
          <p:nvPr/>
        </p:nvSpPr>
        <p:spPr>
          <a:xfrm>
            <a:off x="6675120" y="3081528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clipboard_navy.png" id="602" name="Google Shape;60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95821" y="3202229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18"/>
          <p:cNvSpPr/>
          <p:nvPr/>
        </p:nvSpPr>
        <p:spPr>
          <a:xfrm>
            <a:off x="7296912" y="3054096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4E9EF"/>
                </a:solidFill>
                <a:latin typeface="Arial"/>
                <a:ea typeface="Arial"/>
                <a:cs typeface="Arial"/>
                <a:sym typeface="Arial"/>
              </a:rPr>
              <a:t>Documento de especificación de requisitos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8"/>
          <p:cNvSpPr/>
          <p:nvPr/>
        </p:nvSpPr>
        <p:spPr>
          <a:xfrm>
            <a:off x="6675120" y="3739896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desktop_navy.png" id="605" name="Google Shape;60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95821" y="3860597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18"/>
          <p:cNvSpPr/>
          <p:nvPr/>
        </p:nvSpPr>
        <p:spPr>
          <a:xfrm>
            <a:off x="7296912" y="3712464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4E9EF"/>
                </a:solidFill>
                <a:latin typeface="Arial"/>
                <a:ea typeface="Arial"/>
                <a:cs typeface="Arial"/>
                <a:sym typeface="Arial"/>
              </a:rPr>
              <a:t>Presentación PPTX para la defensa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8"/>
          <p:cNvSpPr/>
          <p:nvPr/>
        </p:nvSpPr>
        <p:spPr>
          <a:xfrm>
            <a:off x="6675120" y="4398264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qrcode_navy.png" id="608" name="Google Shape;60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95821" y="4518965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18"/>
          <p:cNvSpPr/>
          <p:nvPr/>
        </p:nvSpPr>
        <p:spPr>
          <a:xfrm>
            <a:off x="7296912" y="4370832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4E9EF"/>
                </a:solidFill>
                <a:latin typeface="Arial"/>
                <a:ea typeface="Arial"/>
                <a:cs typeface="Arial"/>
                <a:sym typeface="Arial"/>
              </a:rPr>
              <a:t>Capturas o demo en video por épica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8"/>
          <p:cNvSpPr/>
          <p:nvPr/>
        </p:nvSpPr>
        <p:spPr>
          <a:xfrm>
            <a:off x="6675120" y="5056632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chart_navy.png" id="611" name="Google Shape;61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95821" y="5177333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18"/>
          <p:cNvSpPr/>
          <p:nvPr/>
        </p:nvSpPr>
        <p:spPr>
          <a:xfrm>
            <a:off x="7296912" y="502920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9E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4E9EF"/>
                </a:solidFill>
                <a:latin typeface="Arial"/>
                <a:ea typeface="Arial"/>
                <a:cs typeface="Arial"/>
                <a:sym typeface="Arial"/>
              </a:rPr>
              <a:t>Tablas de Planning Poker como evidencia ágil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9"/>
          <p:cNvSpPr/>
          <p:nvPr/>
        </p:nvSpPr>
        <p:spPr>
          <a:xfrm>
            <a:off x="10725912" y="-1005840"/>
            <a:ext cx="2377440" cy="2377440"/>
          </a:xfrm>
          <a:prstGeom prst="ellipse">
            <a:avLst/>
          </a:prstGeom>
          <a:solidFill>
            <a:srgbClr val="FCE3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9"/>
          <p:cNvSpPr/>
          <p:nvPr/>
        </p:nvSpPr>
        <p:spPr>
          <a:xfrm>
            <a:off x="11686032" y="5623560"/>
            <a:ext cx="1371600" cy="1371600"/>
          </a:xfrm>
          <a:prstGeom prst="ellipse">
            <a:avLst/>
          </a:prstGeom>
          <a:solidFill>
            <a:srgbClr val="F6F7F9"/>
          </a:solidFill>
          <a:ln cap="flat" cmpd="sng" w="1905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9"/>
          <p:cNvSpPr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MÁS ALLÁ DEL MVP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9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Proyección futura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Duoc UC  •  Punto Participa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9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9"/>
          <p:cNvSpPr/>
          <p:nvPr/>
        </p:nvSpPr>
        <p:spPr>
          <a:xfrm>
            <a:off x="640080" y="1600200"/>
            <a:ext cx="5303520" cy="1417320"/>
          </a:xfrm>
          <a:prstGeom prst="roundRect">
            <a:avLst>
              <a:gd fmla="val 7742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9"/>
          <p:cNvSpPr/>
          <p:nvPr/>
        </p:nvSpPr>
        <p:spPr>
          <a:xfrm>
            <a:off x="868680" y="1943100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ticket_navy.png" id="626" name="Google Shape;62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4245" y="211866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19"/>
          <p:cNvSpPr/>
          <p:nvPr/>
        </p:nvSpPr>
        <p:spPr>
          <a:xfrm>
            <a:off x="1737360" y="174650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Vales de colación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9"/>
          <p:cNvSpPr/>
          <p:nvPr/>
        </p:nvSpPr>
        <p:spPr>
          <a:xfrm>
            <a:off x="1737360" y="2185416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Habilitados automáticamente tras registrar asistencia.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9"/>
          <p:cNvSpPr/>
          <p:nvPr/>
        </p:nvSpPr>
        <p:spPr>
          <a:xfrm>
            <a:off x="6309360" y="1600200"/>
            <a:ext cx="5303520" cy="1417320"/>
          </a:xfrm>
          <a:prstGeom prst="roundRect">
            <a:avLst>
              <a:gd fmla="val 7742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9"/>
          <p:cNvSpPr/>
          <p:nvPr/>
        </p:nvSpPr>
        <p:spPr>
          <a:xfrm>
            <a:off x="6537960" y="1943100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layer_navy.png" id="631" name="Google Shape;63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3525" y="211866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19"/>
          <p:cNvSpPr/>
          <p:nvPr/>
        </p:nvSpPr>
        <p:spPr>
          <a:xfrm>
            <a:off x="7406640" y="174650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Multi-sede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9"/>
          <p:cNvSpPr/>
          <p:nvPr/>
        </p:nvSpPr>
        <p:spPr>
          <a:xfrm>
            <a:off x="7406640" y="2185416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Separación de datos por sede a nivel nacional.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9"/>
          <p:cNvSpPr/>
          <p:nvPr/>
        </p:nvSpPr>
        <p:spPr>
          <a:xfrm>
            <a:off x="640080" y="3337560"/>
            <a:ext cx="5303520" cy="1417320"/>
          </a:xfrm>
          <a:prstGeom prst="roundRect">
            <a:avLst>
              <a:gd fmla="val 7742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9"/>
          <p:cNvSpPr/>
          <p:nvPr/>
        </p:nvSpPr>
        <p:spPr>
          <a:xfrm>
            <a:off x="868680" y="3680460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server_navy.png" id="636" name="Google Shape;63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4245" y="385602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19"/>
          <p:cNvSpPr/>
          <p:nvPr/>
        </p:nvSpPr>
        <p:spPr>
          <a:xfrm>
            <a:off x="1737360" y="348386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Mayor infraestructura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9"/>
          <p:cNvSpPr/>
          <p:nvPr/>
        </p:nvSpPr>
        <p:spPr>
          <a:xfrm>
            <a:off x="1737360" y="3922776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Soporte para más carga simultánea de usuarios.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9"/>
          <p:cNvSpPr/>
          <p:nvPr/>
        </p:nvSpPr>
        <p:spPr>
          <a:xfrm>
            <a:off x="6309360" y="3337560"/>
            <a:ext cx="5303520" cy="1417320"/>
          </a:xfrm>
          <a:prstGeom prst="roundRect">
            <a:avLst>
              <a:gd fmla="val 7742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9"/>
          <p:cNvSpPr/>
          <p:nvPr/>
        </p:nvSpPr>
        <p:spPr>
          <a:xfrm>
            <a:off x="6537960" y="3680460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cloud_navy.png" id="641" name="Google Shape;64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3525" y="385602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19"/>
          <p:cNvSpPr/>
          <p:nvPr/>
        </p:nvSpPr>
        <p:spPr>
          <a:xfrm>
            <a:off x="7406640" y="348386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Despliegue en la nube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9"/>
          <p:cNvSpPr/>
          <p:nvPr/>
        </p:nvSpPr>
        <p:spPr>
          <a:xfrm>
            <a:off x="7406640" y="3922776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Migración a AWS o Google Cloud en etapa posterior.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1236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0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236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0"/>
          <p:cNvSpPr/>
          <p:nvPr/>
        </p:nvSpPr>
        <p:spPr>
          <a:xfrm>
            <a:off x="3800232" y="568680"/>
            <a:ext cx="4588488" cy="2651175"/>
          </a:xfrm>
          <a:prstGeom prst="roundRect">
            <a:avLst>
              <a:gd fmla="val 544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assets/logo_cropped.png" id="652" name="Google Shape;65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8832" y="797280"/>
            <a:ext cx="4131288" cy="2193975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20"/>
          <p:cNvSpPr/>
          <p:nvPr/>
        </p:nvSpPr>
        <p:spPr>
          <a:xfrm>
            <a:off x="0" y="3063240"/>
            <a:ext cx="121889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Gracias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0"/>
          <p:cNvSpPr/>
          <p:nvPr/>
        </p:nvSpPr>
        <p:spPr>
          <a:xfrm>
            <a:off x="0" y="3886200"/>
            <a:ext cx="12188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¿Preguntas?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0"/>
          <p:cNvSpPr/>
          <p:nvPr/>
        </p:nvSpPr>
        <p:spPr>
          <a:xfrm>
            <a:off x="0" y="4617720"/>
            <a:ext cx="121889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3D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9D3DE"/>
                </a:solidFill>
                <a:latin typeface="Arial"/>
                <a:ea typeface="Arial"/>
                <a:cs typeface="Arial"/>
                <a:sym typeface="Arial"/>
              </a:rPr>
              <a:t>Punto Participa — Duoc UC Sede Alameda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