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76" r:id="rId26"/>
    <p:sldId id="277" r:id="rId27"/>
    <p:sldId id="278" r:id="rId28"/>
    <p:sldId id="280" r:id="rId30"/>
    <p:sldId id="281" r:id="rId31"/>
    <p:sldId id="282" r:id="rId32"/>
    <p:sldId id="283" r:id="rId33"/>
    <p:sldId id="284" r:id="rId34"/>
    <p:sldId id="279" r:id="rId29"/>
    <p:sldId id="269" r:id="rId18"/>
    <p:sldId id="270" r:id="rId19"/>
    <p:sldId id="271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46b32eeZGonkpudN3JF+JoyAU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5" Type="http://customschemas.google.com/relationships/presentationmetadata" Target="metadata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0:35 · Contar cómo nació la solicitud y los tres problemas. Es la única diapositiva donde se habla del problema de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0:35 · Una frase de objetivo y qué aporta la plataforma. No volver a explicar el problema ni listar métodos de registro o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1:10 · Recorrer las tres capas de izquierda a derecha: qué hace cada una y cómo se conectan. Git/GitHub es apoyo al versionado, no una capa. No repetir las funcionalidades de la diapositiva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1:05 · Espacio reservado: se completa en reunión con el equipo (≈20 s por integrante). No inventar intereses ni aportes antes de decidirlos juntos.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0:50 · Describir un recorrido completo de una actividad, no una lista de funciones. No volver a hablar de objetivos ni épicas.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0:35 · Scrum, backlog, sprints y seguimiento. Planning Poker en una sola frase. Aquí es el único lugar donde se habla de Scrum y Planning Poker.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0:35 · Recursos y tiempo, y uno o dos obstáculos. No repetir metodología ni explicar de nuevo los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0:50 · Mostrar el calendario y los cinco hitos principales. No leer cada sprint ni cada épica; no agregar estados de 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0:30 · Dos ideas de proyección y una frase final. No introducir nuevas funciones ni repetir la solución.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8.png"/><Relationship Id="rId4" Type="http://schemas.openxmlformats.org/officeDocument/2006/relationships/image" Target="../media/image47.png"/><Relationship Id="rId5" Type="http://schemas.openxmlformats.org/officeDocument/2006/relationships/image" Target="../media/image39.png"/><Relationship Id="rId6" Type="http://schemas.openxmlformats.org/officeDocument/2006/relationships/image" Target="../media/image5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5.png"/><Relationship Id="rId4" Type="http://schemas.openxmlformats.org/officeDocument/2006/relationships/image" Target="../media/image59.png"/><Relationship Id="rId5" Type="http://schemas.openxmlformats.org/officeDocument/2006/relationships/image" Target="../media/image41.png"/><Relationship Id="rId6" Type="http://schemas.openxmlformats.org/officeDocument/2006/relationships/image" Target="../media/image4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3.png"/><Relationship Id="rId4" Type="http://schemas.openxmlformats.org/officeDocument/2006/relationships/image" Target="../media/image42.png"/><Relationship Id="rId5" Type="http://schemas.openxmlformats.org/officeDocument/2006/relationships/image" Target="../media/image18.png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0.png"/><Relationship Id="rId4" Type="http://schemas.openxmlformats.org/officeDocument/2006/relationships/image" Target="../media/image43.png"/><Relationship Id="rId5" Type="http://schemas.openxmlformats.org/officeDocument/2006/relationships/image" Target="../media/image24.png"/><Relationship Id="rId6" Type="http://schemas.openxmlformats.org/officeDocument/2006/relationships/image" Target="../media/image14.png"/><Relationship Id="rId7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34.png"/><Relationship Id="rId4" Type="http://schemas.openxmlformats.org/officeDocument/2006/relationships/image" Target="../media/image31.png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0.png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image" Target="../media/image14.png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8.png"/><Relationship Id="rId4" Type="http://schemas.openxmlformats.org/officeDocument/2006/relationships/image" Target="../media/image42.png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3" Type="http://schemas.openxmlformats.org/officeDocument/2006/relationships/image" Target="../media/image60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-2011680"/>
            <a:ext cx="5669400" cy="5669400"/>
          </a:xfrm>
          <a:prstGeom prst="ellipse">
            <a:avLst/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-1463040" y="4206240"/>
            <a:ext cx="4023300" cy="4023300"/>
          </a:xfrm>
          <a:prstGeom prst="ellipse">
            <a:avLst/>
          </a:prstGeom>
          <a:solidFill>
            <a:srgbClr val="1236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-182880" y="5989320"/>
            <a:ext cx="12527400" cy="868800"/>
          </a:xfrm>
          <a:prstGeom prst="rect">
            <a:avLst/>
          </a:prstGeom>
          <a:solidFill>
            <a:srgbClr val="081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457200"/>
            <a:ext cx="3657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Duoc</a:t>
            </a: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58368" y="98755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CA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C8CA3"/>
                </a:solidFill>
                <a:latin typeface="Arial"/>
                <a:ea typeface="Arial"/>
                <a:cs typeface="Arial"/>
                <a:sym typeface="Arial"/>
              </a:rPr>
              <a:t>ESCUELA DE INFORMÁTICA Y TELECOMUNICACIONES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425088" y="1270575"/>
            <a:ext cx="4077900" cy="2377500"/>
          </a:xfrm>
          <a:prstGeom prst="roundRect">
            <a:avLst>
              <a:gd fmla="val 622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roj/assets/logo_cropped.png" id="22" name="Google Shape;2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3701" y="1499176"/>
            <a:ext cx="3620652" cy="1920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640080" y="278892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PROPUESTA DE PROYECTO CAPSTONE  ·  PTY4614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94360" y="3154680"/>
            <a:ext cx="10515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Punto Participa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40080" y="429768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D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9D3DE"/>
                </a:solidFill>
                <a:latin typeface="Arial"/>
                <a:ea typeface="Arial"/>
                <a:cs typeface="Arial"/>
                <a:sym typeface="Arial"/>
              </a:rPr>
              <a:t>Planificación y especificación de requisitos según estándares IEEE 830, ISO 9000 y PMI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40080" y="4846320"/>
            <a:ext cx="3383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Gabriel González</a:t>
            </a:r>
            <a:b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rPr>
              <a:t>Jefe de Proyecto / Backend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206240" y="4846320"/>
            <a:ext cx="3383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Pablo Rebolledo</a:t>
            </a:r>
            <a:b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rPr>
              <a:t>Desarrollador Frontend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772400" y="4846320"/>
            <a:ext cx="3383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Diverson Nonnombre</a:t>
            </a:r>
            <a:b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rPr>
              <a:t>Base de Datos / QA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4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rPr>
              <a:t>Asignatura: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Capstone (PTY4614)   </a:t>
            </a:r>
            <a:r>
              <a:rPr b="0" i="0" lang="en-US" sz="1350" u="none" cap="none" strike="noStrike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rPr>
              <a:t>|   Profesor: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Felipe Antonio Krauss Benavente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4"/>
          <p:cNvSpPr/>
          <p:nvPr/>
        </p:nvSpPr>
        <p:spPr>
          <a:xfrm>
            <a:off x="10725912" y="-1005840"/>
            <a:ext cx="2377440" cy="2377440"/>
          </a:xfrm>
          <a:prstGeom prst="ellipse">
            <a:avLst/>
          </a:prstGeom>
          <a:solidFill>
            <a:srgbClr val="FCE3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4"/>
          <p:cNvSpPr/>
          <p:nvPr/>
        </p:nvSpPr>
        <p:spPr>
          <a:xfrm>
            <a:off x="11686032" y="5623560"/>
            <a:ext cx="1371600" cy="1371600"/>
          </a:xfrm>
          <a:prstGeom prst="ellipse">
            <a:avLst/>
          </a:prstGeom>
          <a:solidFill>
            <a:srgbClr val="F6F7F9"/>
          </a:solidFill>
          <a:ln cap="flat" cmpd="sng" w="190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4"/>
          <p:cNvSpPr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ÉPICAS DEL PROYECTO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Funcionalidades clave (1/2)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Duoc UC  •  Punto Participa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640080" y="1600200"/>
            <a:ext cx="5303520" cy="1417320"/>
          </a:xfrm>
          <a:prstGeom prst="roundRect">
            <a:avLst>
              <a:gd fmla="val 7742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4"/>
          <p:cNvSpPr/>
          <p:nvPr/>
        </p:nvSpPr>
        <p:spPr>
          <a:xfrm>
            <a:off x="868680" y="1943100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qrcode_yellow.png" id="432" name="Google Shape;43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245" y="211866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4"/>
          <p:cNvSpPr/>
          <p:nvPr/>
        </p:nvSpPr>
        <p:spPr>
          <a:xfrm>
            <a:off x="1737360" y="174650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001 · Registro de asistencia — 8 PF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1737360" y="2185416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RUT, QR o código de barras, sin duplicados.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6309360" y="1600200"/>
            <a:ext cx="5303520" cy="1417320"/>
          </a:xfrm>
          <a:prstGeom prst="roundRect">
            <a:avLst>
              <a:gd fmla="val 7742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4"/>
          <p:cNvSpPr/>
          <p:nvPr/>
        </p:nvSpPr>
        <p:spPr>
          <a:xfrm>
            <a:off x="6537960" y="1943100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ticket_yellow.png" id="437" name="Google Shape;43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3525" y="211866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4"/>
          <p:cNvSpPr/>
          <p:nvPr/>
        </p:nvSpPr>
        <p:spPr>
          <a:xfrm>
            <a:off x="7406640" y="174650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002 · Cupos e inscripciones — 8 PF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7406640" y="2185416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Disponibilidad en tiempo real, control transaccional.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640080" y="3337560"/>
            <a:ext cx="5303520" cy="1417320"/>
          </a:xfrm>
          <a:prstGeom prst="roundRect">
            <a:avLst>
              <a:gd fmla="val 7742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4"/>
          <p:cNvSpPr/>
          <p:nvPr/>
        </p:nvSpPr>
        <p:spPr>
          <a:xfrm>
            <a:off x="868680" y="3680460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envelope_yellow.png" id="442" name="Google Shape;44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4245" y="385602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4"/>
          <p:cNvSpPr/>
          <p:nvPr/>
        </p:nvSpPr>
        <p:spPr>
          <a:xfrm>
            <a:off x="1737360" y="348386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003 · Invitaciones por correo — 5 PF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1737360" y="3922776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Automáticas, filtradas por carrera y jornada.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6309360" y="3337560"/>
            <a:ext cx="5303520" cy="1417320"/>
          </a:xfrm>
          <a:prstGeom prst="roundRect">
            <a:avLst>
              <a:gd fmla="val 7742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4"/>
          <p:cNvSpPr/>
          <p:nvPr/>
        </p:nvSpPr>
        <p:spPr>
          <a:xfrm>
            <a:off x="6537960" y="3680460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userscog_yellow.png" id="447" name="Google Shape;44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3525" y="385602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4"/>
          <p:cNvSpPr/>
          <p:nvPr/>
        </p:nvSpPr>
        <p:spPr>
          <a:xfrm>
            <a:off x="7406640" y="348386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004 · Usuarios y roles — 5 PF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7406640" y="3922776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Administrador, Creador de Evento, Encargado de Registro.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5"/>
          <p:cNvSpPr/>
          <p:nvPr/>
        </p:nvSpPr>
        <p:spPr>
          <a:xfrm>
            <a:off x="10725912" y="-1005840"/>
            <a:ext cx="2377440" cy="2377440"/>
          </a:xfrm>
          <a:prstGeom prst="ellipse">
            <a:avLst/>
          </a:prstGeom>
          <a:solidFill>
            <a:srgbClr val="FCE3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5"/>
          <p:cNvSpPr/>
          <p:nvPr/>
        </p:nvSpPr>
        <p:spPr>
          <a:xfrm>
            <a:off x="11686032" y="5623560"/>
            <a:ext cx="1371600" cy="1371600"/>
          </a:xfrm>
          <a:prstGeom prst="ellipse">
            <a:avLst/>
          </a:prstGeom>
          <a:solidFill>
            <a:srgbClr val="F6F7F9"/>
          </a:solidFill>
          <a:ln cap="flat" cmpd="sng" w="190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5"/>
          <p:cNvSpPr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ÉPICAS DEL PROYECTO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Funcionalidades clave (2/2)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Duoc UC  •  Punto Participa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640080" y="1600200"/>
            <a:ext cx="5303520" cy="1417320"/>
          </a:xfrm>
          <a:prstGeom prst="roundRect">
            <a:avLst>
              <a:gd fmla="val 7742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5"/>
          <p:cNvSpPr/>
          <p:nvPr/>
        </p:nvSpPr>
        <p:spPr>
          <a:xfrm>
            <a:off x="868680" y="1943100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chart_yellow.png" id="463" name="Google Shape;46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245" y="211866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5"/>
          <p:cNvSpPr/>
          <p:nvPr/>
        </p:nvSpPr>
        <p:spPr>
          <a:xfrm>
            <a:off x="1737360" y="174650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005 · Reportes y métricas — 8 PF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1737360" y="2185416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Consolidados por carrera, jornada y evento.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6309360" y="1600200"/>
            <a:ext cx="5303520" cy="1417320"/>
          </a:xfrm>
          <a:prstGeom prst="roundRect">
            <a:avLst>
              <a:gd fmla="val 7742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5"/>
          <p:cNvSpPr/>
          <p:nvPr/>
        </p:nvSpPr>
        <p:spPr>
          <a:xfrm>
            <a:off x="6537960" y="1943100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clipboard_yellow.png" id="468" name="Google Shape;4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3525" y="211866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5"/>
          <p:cNvSpPr/>
          <p:nvPr/>
        </p:nvSpPr>
        <p:spPr>
          <a:xfrm>
            <a:off x="7406640" y="174650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006 · Gestión de actividades — 8 PF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7406640" y="2185416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Creación, edición y catálogo centralizado.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640080" y="3337560"/>
            <a:ext cx="5303520" cy="1417320"/>
          </a:xfrm>
          <a:prstGeom prst="roundRect">
            <a:avLst>
              <a:gd fmla="val 7742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5"/>
          <p:cNvSpPr/>
          <p:nvPr/>
        </p:nvSpPr>
        <p:spPr>
          <a:xfrm>
            <a:off x="868680" y="3680460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history_yellow.png" id="473" name="Google Shape;47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4245" y="385602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15"/>
          <p:cNvSpPr/>
          <p:nvPr/>
        </p:nvSpPr>
        <p:spPr>
          <a:xfrm>
            <a:off x="1737360" y="348386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007 · Auditoría y trazabilidad — 5 PF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1737360" y="3922776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Registro de acciones, cambios y duplicados.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6309360" y="3337560"/>
            <a:ext cx="5303520" cy="1417320"/>
          </a:xfrm>
          <a:prstGeom prst="roundRect">
            <a:avLst>
              <a:gd fmla="val 7742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5"/>
          <p:cNvSpPr/>
          <p:nvPr/>
        </p:nvSpPr>
        <p:spPr>
          <a:xfrm>
            <a:off x="6537960" y="3680460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roj/icons/cloud_yellow.png" id="478" name="Google Shape;47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3525" y="385602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5"/>
          <p:cNvSpPr/>
          <p:nvPr/>
        </p:nvSpPr>
        <p:spPr>
          <a:xfrm>
            <a:off x="7406640" y="348386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008 · Respaldo y continuidad — 3 PF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7406640" y="3922776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Arial"/>
                <a:ea typeface="Arial"/>
                <a:cs typeface="Arial"/>
                <a:sym typeface="Arial"/>
              </a:rPr>
              <a:t>Respaldo periódico de la información, sin interrumpir el servicio.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6"/>
          <p:cNvSpPr/>
          <p:nvPr/>
        </p:nvSpPr>
        <p:spPr>
          <a:xfrm>
            <a:off x="10725912" y="-1005840"/>
            <a:ext cx="2377440" cy="2377440"/>
          </a:xfrm>
          <a:prstGeom prst="ellipse">
            <a:avLst/>
          </a:prstGeom>
          <a:solidFill>
            <a:srgbClr val="FCE3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6"/>
          <p:cNvSpPr/>
          <p:nvPr/>
        </p:nvSpPr>
        <p:spPr>
          <a:xfrm>
            <a:off x="11686032" y="5623560"/>
            <a:ext cx="1371600" cy="1371600"/>
          </a:xfrm>
          <a:prstGeom prst="ellipse">
            <a:avLst/>
          </a:prstGeom>
          <a:solidFill>
            <a:srgbClr val="F6F7F9"/>
          </a:solidFill>
          <a:ln cap="flat" cmpd="sng" w="190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6"/>
          <p:cNvSpPr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PLAN DE TRABAJO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6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Dimensionamiento — Planning Poker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Duoc UC  •  Punto Participa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6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6"/>
          <p:cNvSpPr/>
          <p:nvPr/>
        </p:nvSpPr>
        <p:spPr>
          <a:xfrm>
            <a:off x="640080" y="1508760"/>
            <a:ext cx="4206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001 · Registro de asistencia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6"/>
          <p:cNvSpPr/>
          <p:nvPr/>
        </p:nvSpPr>
        <p:spPr>
          <a:xfrm>
            <a:off x="4983480" y="1591056"/>
            <a:ext cx="5669280" cy="210312"/>
          </a:xfrm>
          <a:prstGeom prst="roundRect">
            <a:avLst>
              <a:gd fmla="val 26087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6"/>
          <p:cNvSpPr/>
          <p:nvPr/>
        </p:nvSpPr>
        <p:spPr>
          <a:xfrm>
            <a:off x="4983480" y="1591056"/>
            <a:ext cx="5669280" cy="210312"/>
          </a:xfrm>
          <a:prstGeom prst="roundRect">
            <a:avLst>
              <a:gd fmla="val 2608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6"/>
          <p:cNvSpPr/>
          <p:nvPr/>
        </p:nvSpPr>
        <p:spPr>
          <a:xfrm>
            <a:off x="10789920" y="1508760"/>
            <a:ext cx="8229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8 PF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640080" y="1993392"/>
            <a:ext cx="4206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002 · Cupos e inscripciones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4983480" y="2075688"/>
            <a:ext cx="5669280" cy="210312"/>
          </a:xfrm>
          <a:prstGeom prst="roundRect">
            <a:avLst>
              <a:gd fmla="val 26087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6"/>
          <p:cNvSpPr/>
          <p:nvPr/>
        </p:nvSpPr>
        <p:spPr>
          <a:xfrm>
            <a:off x="4983480" y="2075688"/>
            <a:ext cx="5669280" cy="210312"/>
          </a:xfrm>
          <a:prstGeom prst="roundRect">
            <a:avLst>
              <a:gd fmla="val 2608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6"/>
          <p:cNvSpPr/>
          <p:nvPr/>
        </p:nvSpPr>
        <p:spPr>
          <a:xfrm>
            <a:off x="10789920" y="1993392"/>
            <a:ext cx="8229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8 PF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6"/>
          <p:cNvSpPr/>
          <p:nvPr/>
        </p:nvSpPr>
        <p:spPr>
          <a:xfrm>
            <a:off x="640080" y="2478024"/>
            <a:ext cx="4206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003 · Invitaciones por correo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6"/>
          <p:cNvSpPr/>
          <p:nvPr/>
        </p:nvSpPr>
        <p:spPr>
          <a:xfrm>
            <a:off x="4983480" y="2560320"/>
            <a:ext cx="5669280" cy="210312"/>
          </a:xfrm>
          <a:prstGeom prst="roundRect">
            <a:avLst>
              <a:gd fmla="val 26087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6"/>
          <p:cNvSpPr/>
          <p:nvPr/>
        </p:nvSpPr>
        <p:spPr>
          <a:xfrm>
            <a:off x="4983480" y="2560320"/>
            <a:ext cx="3543300" cy="210312"/>
          </a:xfrm>
          <a:prstGeom prst="roundRect">
            <a:avLst>
              <a:gd fmla="val 2608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6"/>
          <p:cNvSpPr/>
          <p:nvPr/>
        </p:nvSpPr>
        <p:spPr>
          <a:xfrm>
            <a:off x="10789920" y="2478024"/>
            <a:ext cx="8229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5 PF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640080" y="2962656"/>
            <a:ext cx="4206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004 · Usuarios y roles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4983480" y="3044952"/>
            <a:ext cx="5669280" cy="210312"/>
          </a:xfrm>
          <a:prstGeom prst="roundRect">
            <a:avLst>
              <a:gd fmla="val 26087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6"/>
          <p:cNvSpPr/>
          <p:nvPr/>
        </p:nvSpPr>
        <p:spPr>
          <a:xfrm>
            <a:off x="4983480" y="3044952"/>
            <a:ext cx="3543300" cy="210312"/>
          </a:xfrm>
          <a:prstGeom prst="roundRect">
            <a:avLst>
              <a:gd fmla="val 2608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6"/>
          <p:cNvSpPr/>
          <p:nvPr/>
        </p:nvSpPr>
        <p:spPr>
          <a:xfrm>
            <a:off x="10789920" y="2962656"/>
            <a:ext cx="8229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5 PF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640080" y="3447288"/>
            <a:ext cx="4206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005 · Reportes y métricas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6"/>
          <p:cNvSpPr/>
          <p:nvPr/>
        </p:nvSpPr>
        <p:spPr>
          <a:xfrm>
            <a:off x="4983480" y="3529584"/>
            <a:ext cx="5669280" cy="210312"/>
          </a:xfrm>
          <a:prstGeom prst="roundRect">
            <a:avLst>
              <a:gd fmla="val 26087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6"/>
          <p:cNvSpPr/>
          <p:nvPr/>
        </p:nvSpPr>
        <p:spPr>
          <a:xfrm>
            <a:off x="4983480" y="3529584"/>
            <a:ext cx="5669280" cy="210312"/>
          </a:xfrm>
          <a:prstGeom prst="roundRect">
            <a:avLst>
              <a:gd fmla="val 2608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6"/>
          <p:cNvSpPr/>
          <p:nvPr/>
        </p:nvSpPr>
        <p:spPr>
          <a:xfrm>
            <a:off x="10789920" y="3447288"/>
            <a:ext cx="8229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8 PF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6"/>
          <p:cNvSpPr/>
          <p:nvPr/>
        </p:nvSpPr>
        <p:spPr>
          <a:xfrm>
            <a:off x="640080" y="3931920"/>
            <a:ext cx="4206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006 · Gestión de actividades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4983480" y="4014216"/>
            <a:ext cx="5669280" cy="210312"/>
          </a:xfrm>
          <a:prstGeom prst="roundRect">
            <a:avLst>
              <a:gd fmla="val 26087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6"/>
          <p:cNvSpPr/>
          <p:nvPr/>
        </p:nvSpPr>
        <p:spPr>
          <a:xfrm>
            <a:off x="4983480" y="4014216"/>
            <a:ext cx="5669280" cy="210312"/>
          </a:xfrm>
          <a:prstGeom prst="roundRect">
            <a:avLst>
              <a:gd fmla="val 2608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6"/>
          <p:cNvSpPr/>
          <p:nvPr/>
        </p:nvSpPr>
        <p:spPr>
          <a:xfrm>
            <a:off x="10789920" y="3931920"/>
            <a:ext cx="8229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8 PF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640080" y="4416552"/>
            <a:ext cx="4206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007 · Auditoría y trazabilidad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4983480" y="4498848"/>
            <a:ext cx="5669280" cy="210312"/>
          </a:xfrm>
          <a:prstGeom prst="roundRect">
            <a:avLst>
              <a:gd fmla="val 26087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6"/>
          <p:cNvSpPr/>
          <p:nvPr/>
        </p:nvSpPr>
        <p:spPr>
          <a:xfrm>
            <a:off x="4983480" y="4498848"/>
            <a:ext cx="3543300" cy="210312"/>
          </a:xfrm>
          <a:prstGeom prst="roundRect">
            <a:avLst>
              <a:gd fmla="val 2608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6"/>
          <p:cNvSpPr/>
          <p:nvPr/>
        </p:nvSpPr>
        <p:spPr>
          <a:xfrm>
            <a:off x="10789920" y="4416552"/>
            <a:ext cx="8229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5 PF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640080" y="4901184"/>
            <a:ext cx="42062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008 · Respaldo y continuidad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4983480" y="4983480"/>
            <a:ext cx="5669280" cy="210312"/>
          </a:xfrm>
          <a:prstGeom prst="roundRect">
            <a:avLst>
              <a:gd fmla="val 26087" name="adj"/>
            </a:avLst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6"/>
          <p:cNvSpPr/>
          <p:nvPr/>
        </p:nvSpPr>
        <p:spPr>
          <a:xfrm>
            <a:off x="4983480" y="4983480"/>
            <a:ext cx="2125980" cy="210312"/>
          </a:xfrm>
          <a:prstGeom prst="roundRect">
            <a:avLst>
              <a:gd fmla="val 2608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6"/>
          <p:cNvSpPr/>
          <p:nvPr/>
        </p:nvSpPr>
        <p:spPr>
          <a:xfrm>
            <a:off x="10789920" y="4901184"/>
            <a:ext cx="8229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2545"/>
                </a:solidFill>
                <a:latin typeface="Arial"/>
                <a:ea typeface="Arial"/>
                <a:cs typeface="Arial"/>
                <a:sym typeface="Arial"/>
              </a:rPr>
              <a:t>3 PF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640080" y="5495544"/>
            <a:ext cx="10881360" cy="502920"/>
          </a:xfrm>
          <a:prstGeom prst="roundRect">
            <a:avLst>
              <a:gd fmla="val 14545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6"/>
          <p:cNvSpPr/>
          <p:nvPr/>
        </p:nvSpPr>
        <p:spPr>
          <a:xfrm>
            <a:off x="640080" y="5495544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rPr>
              <a:t>Total del proyecto: 50 Puntos de Función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17352" y="-1097280"/>
            <a:ext cx="2560320" cy="2560320"/>
          </a:xfrm>
          <a:prstGeom prst="ellipse">
            <a:avLst/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2011680" cy="2011680"/>
          </a:xfrm>
          <a:prstGeom prst="ellipse">
            <a:avLst/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Arial"/>
              </a:rPr>
              <a:t>ORIGEN Y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Del Excel a una plataforma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AAB6C4"/>
                </a:solidFill>
                <a:latin typeface="Arial"/>
              </a:rPr>
              <a:t>Duoc UC  •  Punto Participa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AAB6C4"/>
                </a:solidFill>
                <a:latin typeface="Arial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4572000" cy="4480560"/>
          </a:xfrm>
          <a:prstGeom prst="roundRect">
            <a:avLst>
              <a:gd name="adj" fmla="val 5000"/>
            </a:avLst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874519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" y="2050084"/>
            <a:ext cx="380390" cy="380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1874519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  <a:latin typeface="Arial"/>
              </a:rPr>
              <a:t>ORIGEN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40233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Nació de una solicitud real del Punto Estudiantil de Sede Alameda: modificar una planilla Excel para detectar asistencias duplicadas.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0020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  <a:latin typeface="Arial"/>
              </a:rPr>
              <a:t>PROBLEMAS DETECTADOS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2011680"/>
            <a:ext cx="5943600" cy="1234440"/>
          </a:xfrm>
          <a:prstGeom prst="roundRect">
            <a:avLst>
              <a:gd name="adj" fmla="val 8000"/>
            </a:avLst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06440" y="2258568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004" y="2434132"/>
            <a:ext cx="380390" cy="38039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12280" y="2167128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Manejo manual de archivos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560320"/>
            <a:ext cx="4526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C9D3DE"/>
                </a:solidFill>
                <a:latin typeface="Arial"/>
              </a:rPr>
              <a:t>Planillas Excel en pendrive y formularios externos, sin respaldo.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3429000"/>
            <a:ext cx="5943600" cy="1234440"/>
          </a:xfrm>
          <a:prstGeom prst="roundRect">
            <a:avLst>
              <a:gd name="adj" fmla="val 8000"/>
            </a:avLst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06440" y="3675887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004" y="3851452"/>
            <a:ext cx="380390" cy="38039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12280" y="3584448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Duplicidad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977639"/>
            <a:ext cx="4526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C9D3DE"/>
                </a:solidFill>
                <a:latin typeface="Arial"/>
              </a:rPr>
              <a:t>Asistencias repetidas y sin cupos en tiempo real.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7840" y="4846320"/>
            <a:ext cx="5943600" cy="1234440"/>
          </a:xfrm>
          <a:prstGeom prst="roundRect">
            <a:avLst>
              <a:gd name="adj" fmla="val 8000"/>
            </a:avLst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06440" y="5093208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2004" y="5268772"/>
            <a:ext cx="380390" cy="38039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12280" y="5001768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Falta de trazabilidad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5394960"/>
            <a:ext cx="4526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C9D3DE"/>
                </a:solidFill>
                <a:latin typeface="Arial"/>
              </a:rPr>
              <a:t>No hay registro de quién hizo cada cambio ni cuándo.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25912" y="-1005840"/>
            <a:ext cx="2377440" cy="2377440"/>
          </a:xfrm>
          <a:prstGeom prst="ellipse">
            <a:avLst/>
          </a:prstGeom>
          <a:solidFill>
            <a:srgbClr val="FCE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86032" y="5623560"/>
            <a:ext cx="1371600" cy="1371600"/>
          </a:xfrm>
          <a:prstGeom prst="ellipse">
            <a:avLst/>
          </a:prstGeom>
          <a:solidFill>
            <a:srgbClr val="F6F7F9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Arial"/>
              </a:rPr>
              <a:t>SOLUCIÓN Y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0B2545"/>
                </a:solidFill>
                <a:latin typeface="Arial"/>
              </a:rPr>
              <a:t>Una plataforma que centraliza la gestión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Arial"/>
              </a:rPr>
              <a:t>Duoc UC  •  Punto Participa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Arial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10908792" cy="118872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" y="2004364"/>
            <a:ext cx="380390" cy="380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0240" y="1737360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OBJETIVO GENERAL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Centralizar la gestión de actividades, inscripciones y asistencia del Punto Estudiantil.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3474720"/>
            <a:ext cx="822960" cy="8229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" y="3672230"/>
            <a:ext cx="427939" cy="4279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45262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Arial"/>
              </a:rPr>
              <a:t>Actividades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834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5A6472"/>
                </a:solidFill>
                <a:latin typeface="Arial"/>
              </a:rPr>
              <a:t>Creación y catálogo centralizado.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15468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49039" y="3474720"/>
            <a:ext cx="822960" cy="8229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6550" y="3672230"/>
            <a:ext cx="427939" cy="4279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49039" y="45262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Arial"/>
              </a:rPr>
              <a:t>Inscripciones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9834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5A6472"/>
                </a:solidFill>
                <a:latin typeface="Arial"/>
              </a:rPr>
              <a:t>Cupos controlados en tiempo real.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15468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3680" y="3474720"/>
            <a:ext cx="822960" cy="8229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190" y="3672230"/>
            <a:ext cx="427939" cy="42793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83680" y="45262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Arial"/>
              </a:rPr>
              <a:t>Asistencia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9834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5A6472"/>
                </a:solidFill>
                <a:latin typeface="Arial"/>
              </a:rPr>
              <a:t>Registro rápido y sin duplicados.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315468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18320" y="3474720"/>
            <a:ext cx="822960" cy="8229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5830" y="3672230"/>
            <a:ext cx="427939" cy="42793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418320" y="45262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Arial"/>
              </a:rPr>
              <a:t>Reportes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49834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5A6472"/>
                </a:solidFill>
                <a:latin typeface="Arial"/>
              </a:rPr>
              <a:t>Información consolidada y exportable.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17352" y="-1097280"/>
            <a:ext cx="2560320" cy="2560320"/>
          </a:xfrm>
          <a:prstGeom prst="ellipse">
            <a:avLst/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2011680" cy="2011680"/>
          </a:xfrm>
          <a:prstGeom prst="ellipse">
            <a:avLst/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Arial"/>
              </a:rPr>
              <a:t>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Tres capas que se comunican entre sí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AAB6C4"/>
                </a:solidFill>
                <a:latin typeface="Arial"/>
              </a:rPr>
              <a:t>Duoc UC  •  Punto Participa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AAB6C4"/>
                </a:solidFill>
                <a:latin typeface="Arial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154680" cy="2834640"/>
          </a:xfrm>
          <a:prstGeom prst="roundRect">
            <a:avLst>
              <a:gd name="adj" fmla="val 6000"/>
            </a:avLst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828800"/>
            <a:ext cx="685800" cy="6858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1993392"/>
            <a:ext cx="356616" cy="3566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37360" y="1828800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5A623"/>
                </a:solidFill>
                <a:latin typeface="Arial"/>
              </a:rPr>
              <a:t>PRESENTACIÓN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rial"/>
              </a:rPr>
              <a:t>HTML · CSS · JavaScript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C9D3DE"/>
                </a:solidFill>
                <a:latin typeface="Arial"/>
              </a:rPr>
              <a:t>Interfaz que usa la persona en el navegador: formularios y pantallas.</a:t>
            </a:r>
          </a:p>
        </p:txBody>
      </p:sp>
      <p:sp>
        <p:nvSpPr>
          <p:cNvPr id="14" name="Left-Right Arrow 13"/>
          <p:cNvSpPr/>
          <p:nvPr/>
        </p:nvSpPr>
        <p:spPr>
          <a:xfrm>
            <a:off x="3840480" y="2606040"/>
            <a:ext cx="630936" cy="384048"/>
          </a:xfrm>
          <a:prstGeom prst="left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17136" y="1600200"/>
            <a:ext cx="3154680" cy="2834640"/>
          </a:xfrm>
          <a:prstGeom prst="roundRect">
            <a:avLst>
              <a:gd name="adj" fmla="val 6000"/>
            </a:avLst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91456" y="1828800"/>
            <a:ext cx="685800" cy="6858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993392"/>
            <a:ext cx="356616" cy="3566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14416" y="1828800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5A623"/>
                </a:solidFill>
                <a:latin typeface="Arial"/>
              </a:rPr>
              <a:t>LÓGICA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1456" y="27432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rial"/>
              </a:rPr>
              <a:t>Python · Django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456" y="3246120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C9D3DE"/>
                </a:solidFill>
                <a:latin typeface="Arial"/>
              </a:rPr>
              <a:t>Reglas del sistema: validaciones y permisos según el rol del usuario.</a:t>
            </a:r>
          </a:p>
        </p:txBody>
      </p:sp>
      <p:sp>
        <p:nvSpPr>
          <p:cNvPr id="21" name="Left-Right Arrow 20"/>
          <p:cNvSpPr/>
          <p:nvPr/>
        </p:nvSpPr>
        <p:spPr>
          <a:xfrm>
            <a:off x="7717536" y="2606040"/>
            <a:ext cx="630936" cy="384048"/>
          </a:xfrm>
          <a:prstGeom prst="left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94192" y="1600200"/>
            <a:ext cx="3154680" cy="2834640"/>
          </a:xfrm>
          <a:prstGeom prst="roundRect">
            <a:avLst>
              <a:gd name="adj" fmla="val 6000"/>
            </a:avLst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68512" y="1828800"/>
            <a:ext cx="685800" cy="6858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4" y="1993392"/>
            <a:ext cx="356616" cy="35661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491472" y="1828800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5A623"/>
                </a:solidFill>
                <a:latin typeface="Arial"/>
              </a:rPr>
              <a:t>DATOS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8512" y="27432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rial"/>
              </a:rPr>
              <a:t>PostgreSQL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8512" y="3246120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C9D3DE"/>
                </a:solidFill>
                <a:latin typeface="Arial"/>
              </a:rPr>
              <a:t>Almacena y protege la información de actividades, inscripciones y asistencia.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846320"/>
            <a:ext cx="10908792" cy="685800"/>
          </a:xfrm>
          <a:prstGeom prst="roundRect">
            <a:avLst>
              <a:gd name="adj" fmla="val 15000"/>
            </a:avLst>
          </a:prstGeom>
          <a:solidFill>
            <a:srgbClr val="FCE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84632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Arial"/>
              </a:rPr>
              <a:t>Por qué tres capas: </a:t>
            </a:r>
            <a:r>
              <a:rPr sz="1400" b="0">
                <a:solidFill>
                  <a:srgbClr val="0B2545"/>
                </a:solidFill>
                <a:latin typeface="Arial"/>
              </a:rPr>
              <a:t>cada una tiene una sola responsabilidad, por lo que se puede mantener o cambiar sin afectar a las demás.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715000"/>
            <a:ext cx="10908792" cy="502920"/>
          </a:xfrm>
          <a:prstGeom prst="roundRect">
            <a:avLst>
              <a:gd name="adj" fmla="val 30000"/>
            </a:avLst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  <a:latin typeface="Arial"/>
              </a:rPr>
              <a:t>APOYO · Git y GitHub  </a:t>
            </a:r>
            <a:r>
              <a:rPr sz="1300" b="0">
                <a:solidFill>
                  <a:srgbClr val="C9D3DE"/>
                </a:solidFill>
                <a:latin typeface="Arial"/>
              </a:rPr>
              <a:t>control de versiones del código, fuera de las tres capas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25912" y="-1005840"/>
            <a:ext cx="2377440" cy="2377440"/>
          </a:xfrm>
          <a:prstGeom prst="ellipse">
            <a:avLst/>
          </a:prstGeom>
          <a:solidFill>
            <a:srgbClr val="FCE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86032" y="5623560"/>
            <a:ext cx="1371600" cy="1371600"/>
          </a:xfrm>
          <a:prstGeom prst="ellipse">
            <a:avLst/>
          </a:prstGeom>
          <a:solidFill>
            <a:srgbClr val="F6F7F9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Arial"/>
              </a:rPr>
              <a:t>NUESTRO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0B2545"/>
                </a:solidFill>
                <a:latin typeface="Arial"/>
              </a:rPr>
              <a:t>Nuestros intereses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Arial"/>
              </a:rPr>
              <a:t>Duoc UC  •  Punto Participa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Arial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429000" cy="452628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51660" y="178308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061" y="2024481"/>
            <a:ext cx="523036" cy="5230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301752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B2545"/>
                </a:solidFill>
                <a:latin typeface="Arial"/>
              </a:rPr>
              <a:t>Gabriel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452628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00700" y="178308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101" y="2024481"/>
            <a:ext cx="523036" cy="5230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17720" y="301752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B2545"/>
                </a:solidFill>
                <a:latin typeface="Arial"/>
              </a:rPr>
              <a:t>Pablo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554480"/>
            <a:ext cx="3429000" cy="452628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49739" y="178308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1141" y="2024481"/>
            <a:ext cx="523036" cy="5230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66759" y="301752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B2545"/>
                </a:solidFill>
                <a:latin typeface="Arial"/>
              </a:rPr>
              <a:t>Diverson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17352" y="-1097280"/>
            <a:ext cx="2560320" cy="2560320"/>
          </a:xfrm>
          <a:prstGeom prst="ellipse">
            <a:avLst/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2011680" cy="2011680"/>
          </a:xfrm>
          <a:prstGeom prst="ellipse">
            <a:avLst/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Arial"/>
              </a:rPr>
              <a:t>FUNCIONAMIENTO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Cómo se usa, de principio a fin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AAB6C4"/>
                </a:solidFill>
                <a:latin typeface="Arial"/>
              </a:rPr>
              <a:t>Duoc UC  •  Punto Participa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AAB6C4"/>
                </a:solidFill>
                <a:latin typeface="Arial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1874519"/>
            <a:ext cx="868680" cy="8686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243" y="2083003"/>
            <a:ext cx="451713" cy="451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297180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1. Crear actividad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>
                <a:solidFill>
                  <a:srgbClr val="C9D3DE"/>
                </a:solidFill>
                <a:latin typeface="Arial"/>
              </a:rPr>
              <a:t>Se define si es masiva o taller con cupo.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3264408" y="3017520"/>
            <a:ext cx="182880" cy="182880"/>
          </a:xfrm>
          <a:prstGeom prst="triangl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0" y="160020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43400" y="1874519"/>
            <a:ext cx="868680" cy="8686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883" y="2083003"/>
            <a:ext cx="451713" cy="45171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11879" y="297180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2. Convocar e inscribir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52044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>
                <a:solidFill>
                  <a:srgbClr val="C9D3DE"/>
                </a:solidFill>
                <a:latin typeface="Arial"/>
              </a:rPr>
              <a:t>Invitación por correo según carrera y jornada.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6099048" y="3017520"/>
            <a:ext cx="182880" cy="182880"/>
          </a:xfrm>
          <a:prstGeom prst="triangl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160020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78040" y="1874519"/>
            <a:ext cx="868680" cy="8686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523" y="2083003"/>
            <a:ext cx="451713" cy="45171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46520" y="297180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3. Registrar asistencia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52044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>
                <a:solidFill>
                  <a:srgbClr val="C9D3DE"/>
                </a:solidFill>
                <a:latin typeface="Arial"/>
              </a:rPr>
              <a:t>Ingreso rápido del estudiante, sin duplicados.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8933688" y="3017520"/>
            <a:ext cx="182880" cy="182880"/>
          </a:xfrm>
          <a:prstGeom prst="triangl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0" y="160020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012680" y="1874519"/>
            <a:ext cx="868680" cy="8686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1163" y="2083003"/>
            <a:ext cx="451713" cy="45171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81160" y="297180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4. Ver reportes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352044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>
                <a:solidFill>
                  <a:srgbClr val="C9D3DE"/>
                </a:solidFill>
                <a:latin typeface="Arial"/>
              </a:rPr>
              <a:t>Métricas consolidadas y exportables.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892040"/>
            <a:ext cx="5330952" cy="1005840"/>
          </a:xfrm>
          <a:prstGeom prst="roundRect">
            <a:avLst>
              <a:gd name="adj" fmla="val 12000"/>
            </a:avLst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892040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A623"/>
                </a:solidFill>
                <a:latin typeface="Arial"/>
              </a:rPr>
              <a:t>ACTIVIDAD MASIVA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Sin inscripción previa.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892040"/>
            <a:ext cx="5330952" cy="1005840"/>
          </a:xfrm>
          <a:prstGeom prst="roundRect">
            <a:avLst>
              <a:gd name="adj" fmla="val 12000"/>
            </a:avLst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892040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A623"/>
                </a:solidFill>
                <a:latin typeface="Arial"/>
              </a:rPr>
              <a:t>TALLER CON CUPO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Vacantes visibles en tiempo real.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25912" y="-1005840"/>
            <a:ext cx="2377440" cy="2377440"/>
          </a:xfrm>
          <a:prstGeom prst="ellipse">
            <a:avLst/>
          </a:prstGeom>
          <a:solidFill>
            <a:srgbClr val="FCE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86032" y="5623560"/>
            <a:ext cx="1371600" cy="1371600"/>
          </a:xfrm>
          <a:prstGeom prst="ellipse">
            <a:avLst/>
          </a:prstGeom>
          <a:solidFill>
            <a:srgbClr val="F6F7F9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Arial"/>
              </a:rPr>
              <a:t>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0B2545"/>
                </a:solidFill>
                <a:latin typeface="Arial"/>
              </a:rPr>
              <a:t>Scrum: trabajo por sprints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Arial"/>
              </a:rPr>
              <a:t>Duoc UC  •  Punto Participa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Arial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154680" cy="2377440"/>
          </a:xfrm>
          <a:prstGeom prst="roundRect">
            <a:avLst>
              <a:gd name="adj" fmla="val 7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11680" y="1874519"/>
            <a:ext cx="411480" cy="4114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187451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B2545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Product Backlog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1752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C9D3DE"/>
                </a:solidFill>
                <a:latin typeface="Arial"/>
              </a:rPr>
              <a:t>8 épicas del proyecto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3931920" y="2788920"/>
            <a:ext cx="182880" cy="182880"/>
          </a:xfrm>
          <a:prstGeom prst="triangl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7136" y="1691640"/>
            <a:ext cx="3154680" cy="2377440"/>
          </a:xfrm>
          <a:prstGeom prst="roundRect">
            <a:avLst>
              <a:gd name="adj" fmla="val 7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88736" y="1874519"/>
            <a:ext cx="411480" cy="4114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88736" y="187451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B2545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251460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Sprints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301752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C9D3DE"/>
                </a:solidFill>
                <a:latin typeface="Arial"/>
              </a:rPr>
              <a:t>5 sprints de 2 semanas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7808976" y="2788920"/>
            <a:ext cx="182880" cy="182880"/>
          </a:xfrm>
          <a:prstGeom prst="triangl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1691640"/>
            <a:ext cx="3154680" cy="2377440"/>
          </a:xfrm>
          <a:prstGeom prst="roundRect">
            <a:avLst>
              <a:gd name="adj" fmla="val 7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65792" y="1874519"/>
            <a:ext cx="411480" cy="4114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65792" y="187451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B2545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7072" y="251460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Seguimiento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301752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C9D3DE"/>
                </a:solidFill>
                <a:latin typeface="Arial"/>
              </a:rPr>
              <a:t>Daily Scrum, Review y Retrospectiva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52628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84632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" y="5021884"/>
            <a:ext cx="380390" cy="38039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920240" y="4526280"/>
            <a:ext cx="93268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B86E00"/>
                </a:solidFill>
                <a:latin typeface="Arial"/>
              </a:rPr>
              <a:t>ESTIMACIÓN</a:t>
            </a:r>
          </a:p>
          <a:p>
            <a:pPr algn="l"/>
            <a:r>
              <a:rPr sz="1600" b="0">
                <a:solidFill>
                  <a:srgbClr val="0B2545"/>
                </a:solidFill>
                <a:latin typeface="Arial"/>
              </a:rPr>
              <a:t>El tamaño de cada épica se estimó con Planning Poker; el Product Owner (Punto Estudiantil) prioriza el backlog.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17352" y="-1097280"/>
            <a:ext cx="2560320" cy="2560320"/>
          </a:xfrm>
          <a:prstGeom prst="ellipse">
            <a:avLst/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2011680" cy="2011680"/>
          </a:xfrm>
          <a:prstGeom prst="ellipse">
            <a:avLst/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Arial"/>
              </a:rPr>
              <a:t>FACTIBILIDAD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Por qué es viable y qué podría complicarlo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AAB6C4"/>
                </a:solidFill>
                <a:latin typeface="Arial"/>
              </a:rPr>
              <a:t>Duoc UC  •  Punto Participa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AAB6C4"/>
                </a:solidFill>
                <a:latin typeface="Arial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03520" cy="4526280"/>
          </a:xfrm>
          <a:prstGeom prst="roundRect">
            <a:avLst>
              <a:gd name="adj" fmla="val 4000"/>
            </a:avLst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  <a:latin typeface="Arial"/>
              </a:rPr>
              <a:t>RECURSOS Y TIEMPO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359152"/>
            <a:ext cx="365760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08760" y="228600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Tiempo</a:t>
            </a:r>
          </a:p>
          <a:p>
            <a:pPr algn="l"/>
            <a:r>
              <a:rPr sz="1350" b="0">
                <a:solidFill>
                  <a:srgbClr val="C9D3DE"/>
                </a:solidFill>
                <a:latin typeface="Arial"/>
              </a:rPr>
              <a:t>10 semanas de desarrollo.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273552"/>
            <a:ext cx="365760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08760" y="320040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Tecnología</a:t>
            </a:r>
          </a:p>
          <a:p>
            <a:pPr algn="l"/>
            <a:r>
              <a:rPr sz="1350" b="0">
                <a:solidFill>
                  <a:srgbClr val="C9D3DE"/>
                </a:solidFill>
                <a:latin typeface="Arial"/>
              </a:rPr>
              <a:t>Stack gratuito y ya dominado por el equipo.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187952"/>
            <a:ext cx="365760" cy="365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08760" y="411480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Equipos</a:t>
            </a:r>
          </a:p>
          <a:p>
            <a:pPr algn="l"/>
            <a:r>
              <a:rPr sz="1350" b="0">
                <a:solidFill>
                  <a:srgbClr val="C9D3DE"/>
                </a:solidFill>
                <a:latin typeface="Arial"/>
              </a:rPr>
              <a:t>Lectores de códigos ya disponibles.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5102352"/>
            <a:ext cx="365760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08760" y="502920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Contraparte</a:t>
            </a:r>
          </a:p>
          <a:p>
            <a:pPr algn="l"/>
            <a:r>
              <a:rPr sz="1350" b="0">
                <a:solidFill>
                  <a:srgbClr val="C9D3DE"/>
                </a:solidFill>
                <a:latin typeface="Arial"/>
              </a:rPr>
              <a:t>Punto Estudiantil de Sede Alameda comprometido.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554480"/>
            <a:ext cx="5303520" cy="4526280"/>
          </a:xfrm>
          <a:prstGeom prst="roundRect">
            <a:avLst>
              <a:gd name="adj" fmla="val 4000"/>
            </a:avLst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17373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  <a:latin typeface="Arial"/>
              </a:rPr>
              <a:t>OBSTÁCULOS</a:t>
            </a:r>
          </a:p>
        </p:txBody>
      </p:sp>
      <p:sp>
        <p:nvSpPr>
          <p:cNvPr id="20" name="Oval 19"/>
          <p:cNvSpPr/>
          <p:nvPr/>
        </p:nvSpPr>
        <p:spPr>
          <a:xfrm>
            <a:off x="6565392" y="2377440"/>
            <a:ext cx="685800" cy="6858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3" y="2542032"/>
            <a:ext cx="356616" cy="35661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98079" y="235915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Horas limitadas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78892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C9D3DE"/>
                </a:solidFill>
                <a:latin typeface="Arial"/>
              </a:rPr>
              <a:t>Compartidas con otras asignaturas del semestre.</a:t>
            </a:r>
          </a:p>
        </p:txBody>
      </p:sp>
      <p:sp>
        <p:nvSpPr>
          <p:cNvPr id="24" name="Oval 23"/>
          <p:cNvSpPr/>
          <p:nvPr/>
        </p:nvSpPr>
        <p:spPr>
          <a:xfrm>
            <a:off x="6565392" y="4114800"/>
            <a:ext cx="685800" cy="6858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3" y="4279392"/>
            <a:ext cx="356616" cy="35661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498079" y="409651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Disponibilidad de la contraparte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52628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C9D3DE"/>
                </a:solidFill>
                <a:latin typeface="Arial"/>
              </a:rPr>
              <a:t>Se depende de los tiempos del Punto Estudiantil.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25912" y="-1005840"/>
            <a:ext cx="2377440" cy="2377440"/>
          </a:xfrm>
          <a:prstGeom prst="ellipse">
            <a:avLst/>
          </a:prstGeom>
          <a:solidFill>
            <a:srgbClr val="FCE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86032" y="5623560"/>
            <a:ext cx="1371600" cy="1371600"/>
          </a:xfrm>
          <a:prstGeom prst="ellipse">
            <a:avLst/>
          </a:prstGeom>
          <a:solidFill>
            <a:srgbClr val="F6F7F9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Arial"/>
              </a:rPr>
              <a:t>PLANIFICACIÓN E HITOS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0B2545"/>
                </a:solidFill>
                <a:latin typeface="Arial"/>
              </a:rPr>
              <a:t>10 semanas, 5 hitos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Arial"/>
              </a:rPr>
              <a:t>Duoc UC  •  Punto Participa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Arial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2103120" cy="6858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Sprint 1</a:t>
            </a:r>
          </a:p>
          <a:p>
            <a:pPr algn="ctr"/>
            <a:r>
              <a:rPr sz="1100" b="0">
                <a:solidFill>
                  <a:srgbClr val="C9D3DE"/>
                </a:solidFill>
                <a:latin typeface="Arial"/>
              </a:rPr>
              <a:t>Semanas 5–6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691640"/>
            <a:ext cx="2103120" cy="6858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39" y="169164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Sprint 2</a:t>
            </a:r>
          </a:p>
          <a:p>
            <a:pPr algn="ctr"/>
            <a:r>
              <a:rPr sz="1100" b="0">
                <a:solidFill>
                  <a:srgbClr val="C9D3DE"/>
                </a:solidFill>
                <a:latin typeface="Arial"/>
              </a:rPr>
              <a:t>Semanas 7–8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691640"/>
            <a:ext cx="2103120" cy="6858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69164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Sprint 3</a:t>
            </a:r>
          </a:p>
          <a:p>
            <a:pPr algn="ctr"/>
            <a:r>
              <a:rPr sz="1100" b="0">
                <a:solidFill>
                  <a:srgbClr val="C9D3DE"/>
                </a:solidFill>
                <a:latin typeface="Arial"/>
              </a:rPr>
              <a:t>Semanas 9–10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59" y="1691640"/>
            <a:ext cx="2103120" cy="6858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59" y="169164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Sprint 4</a:t>
            </a:r>
          </a:p>
          <a:p>
            <a:pPr algn="ctr"/>
            <a:r>
              <a:rPr sz="1100" b="0">
                <a:solidFill>
                  <a:srgbClr val="C9D3DE"/>
                </a:solidFill>
                <a:latin typeface="Arial"/>
              </a:rPr>
              <a:t>Semanas 11–12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19" y="1691640"/>
            <a:ext cx="2103120" cy="6858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169164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Sprint 5</a:t>
            </a:r>
          </a:p>
          <a:p>
            <a:pPr algn="ctr"/>
            <a:r>
              <a:rPr sz="1100" b="0">
                <a:solidFill>
                  <a:srgbClr val="C9D3DE"/>
                </a:solidFill>
                <a:latin typeface="Arial"/>
              </a:rPr>
              <a:t>Semanas 13–14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81528"/>
            <a:ext cx="10908792" cy="54864"/>
          </a:xfrm>
          <a:prstGeom prst="rect">
            <a:avLst/>
          </a:prstGeom>
          <a:solidFill>
            <a:srgbClr val="FCE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240280" y="2834640"/>
            <a:ext cx="548640" cy="5486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40280" y="2834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2545"/>
                </a:solidFill>
                <a:latin typeface="Arial"/>
              </a:rPr>
              <a:t>S6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57600"/>
            <a:ext cx="2103120" cy="1600200"/>
          </a:xfrm>
          <a:prstGeom prst="roundRect">
            <a:avLst>
              <a:gd name="adj" fmla="val 7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7490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B86E00"/>
                </a:solidFill>
                <a:latin typeface="Arial"/>
              </a:rPr>
              <a:t>HITO S6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06908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B2545"/>
                </a:solidFill>
                <a:latin typeface="Arial"/>
              </a:rPr>
              <a:t>Usuarios, roles y catálogo de actividades</a:t>
            </a:r>
          </a:p>
        </p:txBody>
      </p:sp>
      <p:sp>
        <p:nvSpPr>
          <p:cNvPr id="24" name="Oval 23"/>
          <p:cNvSpPr/>
          <p:nvPr/>
        </p:nvSpPr>
        <p:spPr>
          <a:xfrm>
            <a:off x="4434840" y="2834640"/>
            <a:ext cx="548640" cy="5486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2834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2545"/>
                </a:solidFill>
                <a:latin typeface="Arial"/>
              </a:rPr>
              <a:t>S8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39" y="3657600"/>
            <a:ext cx="2103120" cy="1600200"/>
          </a:xfrm>
          <a:prstGeom prst="roundRect">
            <a:avLst>
              <a:gd name="adj" fmla="val 7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71799" y="37490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B86E00"/>
                </a:solidFill>
                <a:latin typeface="Arial"/>
              </a:rPr>
              <a:t>HITO S8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799" y="406908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B2545"/>
                </a:solidFill>
                <a:latin typeface="Arial"/>
              </a:rPr>
              <a:t>Asistencia con control de duplicados</a:t>
            </a:r>
          </a:p>
        </p:txBody>
      </p:sp>
      <p:sp>
        <p:nvSpPr>
          <p:cNvPr id="29" name="Oval 28"/>
          <p:cNvSpPr/>
          <p:nvPr/>
        </p:nvSpPr>
        <p:spPr>
          <a:xfrm>
            <a:off x="6629400" y="2834640"/>
            <a:ext cx="548640" cy="5486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2834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2545"/>
                </a:solidFill>
                <a:latin typeface="Arial"/>
              </a:rPr>
              <a:t>S10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3657600"/>
            <a:ext cx="2103120" cy="1600200"/>
          </a:xfrm>
          <a:prstGeom prst="roundRect">
            <a:avLst>
              <a:gd name="adj" fmla="val 7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66360" y="37490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B86E00"/>
                </a:solidFill>
                <a:latin typeface="Arial"/>
              </a:rPr>
              <a:t>HITO S10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406908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B2545"/>
                </a:solidFill>
                <a:latin typeface="Arial"/>
              </a:rPr>
              <a:t>Inscripción a talleres con cupos</a:t>
            </a:r>
          </a:p>
        </p:txBody>
      </p:sp>
      <p:sp>
        <p:nvSpPr>
          <p:cNvPr id="34" name="Oval 33"/>
          <p:cNvSpPr/>
          <p:nvPr/>
        </p:nvSpPr>
        <p:spPr>
          <a:xfrm>
            <a:off x="8823959" y="2834640"/>
            <a:ext cx="548640" cy="5486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23959" y="2834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2545"/>
                </a:solidFill>
                <a:latin typeface="Arial"/>
              </a:rPr>
              <a:t>S12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3759" y="3657600"/>
            <a:ext cx="2103120" cy="1600200"/>
          </a:xfrm>
          <a:prstGeom prst="roundRect">
            <a:avLst>
              <a:gd name="adj" fmla="val 7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19" y="37490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B86E00"/>
                </a:solidFill>
                <a:latin typeface="Arial"/>
              </a:rPr>
              <a:t>HITO S12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19" y="406908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B2545"/>
                </a:solidFill>
                <a:latin typeface="Arial"/>
              </a:rPr>
              <a:t>Respaldo automático e invitaciones por correo</a:t>
            </a:r>
          </a:p>
        </p:txBody>
      </p:sp>
      <p:sp>
        <p:nvSpPr>
          <p:cNvPr id="39" name="Oval 38"/>
          <p:cNvSpPr/>
          <p:nvPr/>
        </p:nvSpPr>
        <p:spPr>
          <a:xfrm>
            <a:off x="11018519" y="2834640"/>
            <a:ext cx="548640" cy="5486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18519" y="2834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2545"/>
                </a:solidFill>
                <a:latin typeface="Arial"/>
              </a:rPr>
              <a:t>S14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18319" y="3657600"/>
            <a:ext cx="2103120" cy="1600200"/>
          </a:xfrm>
          <a:prstGeom prst="roundRect">
            <a:avLst>
              <a:gd name="adj" fmla="val 7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55480" y="37490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B86E00"/>
                </a:solidFill>
                <a:latin typeface="Arial"/>
              </a:rPr>
              <a:t>HITO S14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406908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B2545"/>
                </a:solidFill>
                <a:latin typeface="Arial"/>
              </a:rPr>
              <a:t>Reportes, integración y pruebas finales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17352" y="-1097280"/>
            <a:ext cx="2560320" cy="2560320"/>
          </a:xfrm>
          <a:prstGeom prst="ellipse">
            <a:avLst/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2011680" cy="2011680"/>
          </a:xfrm>
          <a:prstGeom prst="ellipse">
            <a:avLst/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Arial"/>
              </a:rPr>
              <a:t>PROYECCIÓN Y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Hacia dónde puede crecer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AAB6C4"/>
                </a:solidFill>
                <a:latin typeface="Arial"/>
              </a:rPr>
              <a:t>Duoc UC  •  Punto Participa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AAB6C4"/>
                </a:solidFill>
                <a:latin typeface="Arial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6309360" cy="1417320"/>
          </a:xfrm>
          <a:prstGeom prst="roundRect">
            <a:avLst>
              <a:gd name="adj" fmla="val 8000"/>
            </a:avLst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938528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" y="2114092"/>
            <a:ext cx="380390" cy="380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18288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Vales de colación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24028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C9D3DE"/>
                </a:solidFill>
                <a:latin typeface="Arial"/>
              </a:rPr>
              <a:t>Habilitados automáticamente tras registrar la asistencia.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00400"/>
            <a:ext cx="6309360" cy="1417320"/>
          </a:xfrm>
          <a:prstGeom prst="roundRect">
            <a:avLst>
              <a:gd name="adj" fmla="val 8000"/>
            </a:avLst>
          </a:prstGeom>
          <a:solidFill>
            <a:srgbClr val="1236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3538728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" y="3714292"/>
            <a:ext cx="380390" cy="3803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28800" y="3429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Multi-sede y nube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84048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C9D3DE"/>
                </a:solidFill>
                <a:latin typeface="Arial"/>
              </a:rPr>
              <a:t>Datos separados por sede y despliegue en AWS o Google Cloud.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46320"/>
            <a:ext cx="6309360" cy="1188720"/>
          </a:xfrm>
          <a:prstGeom prst="roundRect">
            <a:avLst>
              <a:gd name="adj" fmla="val 10000"/>
            </a:avLst>
          </a:prstGeom>
          <a:solidFill>
            <a:srgbClr val="FCE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5760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Arial"/>
              </a:rPr>
              <a:t>Punto Participa ordena y centraliza la gestión de actividades del Punto Estudiantil.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600200"/>
            <a:ext cx="4050791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737360"/>
            <a:ext cx="3685032" cy="19202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98079" y="4114800"/>
            <a:ext cx="405079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rial"/>
              </a:rPr>
              <a:t>Gracias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937760"/>
            <a:ext cx="405079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5A623"/>
                </a:solidFill>
                <a:latin typeface="Arial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